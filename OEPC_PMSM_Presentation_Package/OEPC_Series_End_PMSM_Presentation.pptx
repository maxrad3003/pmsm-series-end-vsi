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ADVANCED MOTOR DRIVES &amp; HARDWARE VALIDATION</a:t>
            </a:r>
          </a:p>
          <a:p>
            <a:pPr algn="ctr">
              <a:spcBef>
                <a:spcPts val="1200"/>
              </a:spcBef>
              <a:defRPr sz="2800" b="1">
                <a:solidFill>
                  <a:srgbClr val="F0F4FC"/>
                </a:solidFill>
                <a:latin typeface="Arial"/>
              </a:defRPr>
            </a:pPr>
            <a:r>
              <a:t>Hardware-Efficient Optimal Error-Priority Control for Series-End VSI With ZSC Suppression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9CB3D9"/>
                </a:solidFill>
                <a:latin typeface="Arial"/>
              </a:defRPr>
            </a:pPr>
            <a:r>
              <a:t>בקרת זרם אופטימלית מבוססת תעדוף שגיאה (OEPC) לממיר Series-End VSI עבור מנועי PMSM ודיכוי זרמי סדרה אפס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30175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Dr. Eli Gad Barbie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Project Supervisor &amp; Senior Lecturer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Dept. of Electrical &amp; Electronics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Shamoon College of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297680"/>
            <a:ext cx="30175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Maxim Radkin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M.Sc. Candidate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Dept. of Electrical &amp; Electronics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Shamoon College of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297680"/>
            <a:ext cx="3017520" cy="164592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Prof. Dmitry Baimel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Senior Member, IEEE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Dept. of Electrical &amp; Electronics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Shamoon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METHODOLOGY EVOLUTION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Evolution: From Single-Error TDM to Multi-Objective OEPC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⏳ Classical TDM Approach (Time Division Multiplexing)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Single Error Focus: TDM corrects only the single prime error at each switching cycle.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Sequential Round-Robin: Cycles through phases one-by-one, discarding potential secondary corrections.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Preservation Policy: Applies zero-voltage self-circulation to non-prime phases to avoid error deterioration.</a:t>
            </a:r>
          </a:p>
          <a:p>
            <a:pPr algn="r">
              <a:spcBef>
                <a:spcPts val="800"/>
              </a:spcBef>
              <a:defRPr sz="1100">
                <a:solidFill>
                  <a:srgbClr val="9CB3D9"/>
                </a:solidFill>
                <a:latin typeface="Arial"/>
              </a:defRPr>
            </a:pPr>
            <a:r>
              <a:t>בשיטת TDM מתקנים שגיאה קריטית אחת בלבד בכל מחזור מיתוג.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🚀 Proposed OEPC Strategy (Optimal Error-Priority Control)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Multi-Objective Optimality: Actively attempts to correct as many phase errors and ZSC components simultaneously as feasible.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Deterministic 96-Entry LUT: 7-bit error signature maps directly to optimal switching states in &lt; 1.75 µs.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Dynamic Error-Mode Predominance: Dynamically balances differential phase currents and common-mode ZSC suppression.</a:t>
            </a:r>
          </a:p>
          <a:p>
            <a:pPr algn="r">
              <a:spcBef>
                <a:spcPts val="800"/>
              </a:spcBef>
              <a:defRPr sz="1100">
                <a:solidFill>
                  <a:srgbClr val="9CB3D9"/>
                </a:solidFill>
                <a:latin typeface="Arial"/>
              </a:defRPr>
            </a:pPr>
            <a:r>
              <a:t>בשיטת OEPC מנתחים את כל 6 השגיאות ומתקנים מקסימום שגיאות בו-זמנית לפי סדר עדיפויות דטרמיניסטי.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SYSTEM TOPOLOGY &amp; MODELING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Series-End VSI Architecture &amp; Zero-Sequence Current (ZSC)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4-Leg Series-End VSI Characteristics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Optimal DC-Bus Utilization: Delivers Ma = 1.0 (identical to dual-inverter setups) with only 4 legs (8 switches vs 12).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Open-Winding PMSM: Significantly enhances machine power density and dynamic torque response.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Hardware Realization (Altium Design): Physically built using custom GaN switches (Power_Swech - GUN_ V2) and floating current sensors (Isolated_Current_Sensor _V2_1).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ZSC Mitigation Challenge: Absence of floating neutral creates closed ZSC path via outer legs 1 and 4.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Inter-Phase Coupling: Leg 4 switching impacts all 3 phase currents simultaneously.</a:t>
            </a:r>
          </a:p>
        </p:txBody>
      </p:sp>
      <p:pic>
        <p:nvPicPr>
          <p:cNvPr id="5" name="Picture 4" descr="fig2_se_vsi_topology_and_zsc_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1952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CONTROL ALGORITHM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Error-Priority Processing &amp; 7-Bit LUT Signature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Deterministic ABC Coordinate Processing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6 Current Errors: 3 Differential-Mode (DM) + 3 Common-Mode (CM) errors calculated directly.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Critical Error Selection: Pairwise comparison selects the dominant error per phase.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Error Mode Predominance (EMP / Fmp): Determines whether CM (ZSC) or DM (phase currents) dominates.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Error Priority Code (EPC): 3-bit magnitude hierarchy of phase errors.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Error Signs Code (ESC): 3-bit polarity representation (+/-).</a:t>
            </a:r>
          </a:p>
          <a:p>
            <a:pPr algn="r">
              <a:spcBef>
                <a:spcPts val="800"/>
              </a:spcBef>
              <a:defRPr sz="1100">
                <a:solidFill>
                  <a:srgbClr val="9CB3D9"/>
                </a:solidFill>
                <a:latin typeface="Arial"/>
              </a:defRPr>
            </a:pPr>
            <a:r>
              <a:t>חישוב לוגי ישיר בקואורדינטות ABC המפיק כתובת בת 7 ביטים לטבלת LUT קומפקטית ללא התמרות צירים.</a:t>
            </a:r>
          </a:p>
        </p:txBody>
      </p:sp>
      <p:pic>
        <p:nvPicPr>
          <p:cNvPr id="5" name="Picture 4" descr="fig3_oepc_flowchart_algorith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3215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VALIDATION &amp; REAL-TIME HIL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Typhoon Controller-Hardware-In-the-Loop (C-HIL)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C-HIL Real-Time Emulation Setup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Typhoon HIL402/HIL404 Emulator: Ultra-high fidelity real-time emulation of PMSM and power stages at 1 MHz sample rate.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Physical DSP Controller: Texas Instruments TMS320F28335 / TMS320F28379D executing OEPC code in real time.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Sub-Microsecond Execution: Current control loop executes in 1.75 µs (0.85 µs on F28379D).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Hardware Integration: Interfaced the physical DSP controller, GaN converters, and Typhoon HIL platform.</a:t>
            </a:r>
          </a:p>
        </p:txBody>
      </p:sp>
      <p:pic>
        <p:nvPicPr>
          <p:cNvPr id="5" name="Picture 4" descr="fig4_experimental_setups_chil_prototy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656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C-HIL EXPERIMENTAL RESULTS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Real-Time Motor Drive Dynamic Response under C-HIL</a:t>
            </a:r>
          </a:p>
        </p:txBody>
      </p:sp>
      <p:pic>
        <p:nvPicPr>
          <p:cNvPr id="4" name="Picture 3" descr="fig12_chil_realtime_pmsm_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64304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Dynamic Performance &amp; ZSC Suppression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Speed &amp; Load Transients: Smooth acceleration to 1500 RPM with rapid settling time (&lt; 50 ms).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Torque Disturbance Rejection: Abrupt 5 Nm to 45 Nm load steps handled with zero current runaway.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Torque Ripple Clamping: Maintained within +/- 0.5 Nm under full load.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Complete ZSC Clamping: Peak-to-peak ZSC ripple held below 0.42 A during all transients.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PHYSICAL HARDWARE VALIDATION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Experimental Results under Severe Load Asymmetry (+/- 25%)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Stress Test on GaN Inverter Prototype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Laboratory Prototype: Built with GaN Systems GS66516B (650V / 60A) transistors.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Physical Impedance Asymmetry: Inductors tuned to +/- 25% unbalance (La=7.5mH, Lb=10mH, Lc=12.5mH).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Experimental Current Quality: Perfectly balanced 3-phase currents with THD = 1.57%.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ZSC Ripple Clamped to 0.19 A: Validates flawless suppression under severe physical unbalance.</a:t>
            </a:r>
          </a:p>
        </p:txBody>
      </p:sp>
      <p:pic>
        <p:nvPicPr>
          <p:cNvPr id="5" name="Picture 4" descr="fig9_experimental_three_phase_currents_z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974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PHYSICAL HARDWARE VALIDATION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Measured Differential Voltages &amp; Adaptive Modulation</a:t>
            </a:r>
          </a:p>
        </p:txBody>
      </p:sp>
      <p:pic>
        <p:nvPicPr>
          <p:cNvPr id="4" name="Picture 3" descr="fig8_experimental_differential_volt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9597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Dynamic Duty Cycle &amp; Power Efficiency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Adaptive Phase-Wise Duty Cycles: Distinct switching patterns automatically generated per leg to balance asymmetric load.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Maximal DC Utilization: Reaches Ma = 1.0 without overmodulation clipping.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Variable Switching Frequency: Corrects errors only when necessary, reducing switching losses by up to ~30%.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EMI Spread Spectrum: Natural harmonic dispersion eliminates sharp EMI peaks.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BENCHMARKING &amp; PERFORMANCE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Comparative Analysis: OEPC vs. Conventional Schemes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Computational Complexity &amp; Efficiency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OEPC Execution Time: 1.75 µs on TMS320F28335 (150 MHz) - Baseline 100% computational load.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3D-SVM: 3.3x heavier computational burden per core with fixed switching losses.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CBPWM: 16x heavier arithmetic load; exhibits current spikes during dead-time.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Multi-Vector MPC: &gt;150x heavier complexity; highly sensitive to parameter errors.</a:t>
            </a:r>
          </a:p>
        </p:txBody>
      </p:sp>
      <p:pic>
        <p:nvPicPr>
          <p:cNvPr id="5" name="Picture 4" descr="fig11_steady_state_comparison_oepc_cbpw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2416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MACHINE FAULT TOLERANCE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Intrinsic Fault Robustness under Inter-Turn Short Circuits (ITSC)</a:t>
            </a:r>
          </a:p>
        </p:txBody>
      </p:sp>
      <p:pic>
        <p:nvPicPr>
          <p:cNvPr id="4" name="Picture 3" descr="fig13_fault_tolerance_itsc_oepc_vs_cbpw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42075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Passive Fault Containment without Extra Sensors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10% ITSC Stator Fault: Evaluated under identical internal machine short-circuit conditions.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CBPWM Breakdown: Carrier-based control fails to contain the fault, causing severe current runaway and destruction.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OEPC Inherent Clamping: Error-priority logic naturally clamps the fault currents, maintaining stable operation and preventing runaway.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Critical Limp-Home Capability: Ideal for mission-critical EV drivetrains and aerospace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RESEARCH CONTRIBUTIONS &amp; PUBLICATION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IEEE Transactions on Industrial Electronics (TIE) Milestone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🌟 Acceptance in Top-Tier IEEE Journal (Q1)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Decisive Impact of Experiments: The comprehensive physical experimental verification and C-HIL validation were the cornerstone of acceptance in IEEE TIE.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Authorship Note: While Maxim Radkin was not formally listed on the initial submission due to IEEE initial-round author freeze rules, his execution of the hardware setup and testing directly enabled this achievement.</a:t>
            </a:r>
          </a:p>
          <a:p>
            <a:pPr algn="r">
              <a:spcBef>
                <a:spcPts val="800"/>
              </a:spcBef>
              <a:defRPr sz="1100">
                <a:solidFill>
                  <a:srgbClr val="9CB3D9"/>
                </a:solidFill>
                <a:latin typeface="Arial"/>
              </a:defRPr>
            </a:pPr>
            <a:r>
              <a:t>המאמר היוקרתי ב-IEEE TIE התקבל הודות לתוצאות הניסוייות המעשיות ולסטאפ ה-HIL המעבדתי שנבנה.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🔬 Laboratory Validation &amp; Experimental Tasks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DSP-to-Typhoon C-HIL Interface: Interfacing Texas Instruments DSP with real-time Typhoon emulator.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GaN Inverter Fabrication: Construction and debugging of the 4-Leg Series-End power stage.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Asymmetric Inductor Test Rig: Calibration and stress-testing under +/- 25% impedance imbalance.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Oscilloscope Capture &amp; FFT Analysis: High-bandwidth current/voltage measurements and harmonic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ONGOING RESEARCH &amp; NEXT STEPS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Hardware Progression: Newly Acquired PMSM &amp; Custom Inverters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Next-Phase Experimental Setup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Newly Acquired Industrial PMSM: High-performance open-winding servomotor with integrated SICK SFM60 Hiperface optical encoder.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Custom-Built Inverters: In-house fabricated 4-leg Series-End power stages for full-scale dyno testing.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Experimental Continuity: Comprehensive physical dyno testing, field-weakening control, and efficiency validation.</a:t>
            </a:r>
          </a:p>
        </p:txBody>
      </p:sp>
      <p:pic>
        <p:nvPicPr>
          <p:cNvPr id="5" name="Picture 4" descr="pmsm_motor_pho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MECHANICAL &amp; STRUCTURAL SETUP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SolidWorks CAD Mechanical Assembly &amp; Sensor Integration</a:t>
            </a:r>
          </a:p>
        </p:txBody>
      </p:sp>
      <p:pic>
        <p:nvPicPr>
          <p:cNvPr id="4" name="Picture 3" descr="hardware_setup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1640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Precision Mechanical Test Bed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SolidWorks 3D Modeling: Full CAD design of motor test bench (PMSM_Load_Stend.SLDASM) and machine bed adapters.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T210 Torque Sensor Mount: Precision alignment flange for dynamic shaft torque and efficiency measurements.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SICK SFM60 Hiperface RS485 Interface: High-speed serial protocol decoding on DSP for rotor flux angle estimation.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SUMMARY &amp; CONCLUSIONS</a:t>
            </a:r>
          </a:p>
          <a:p>
            <a:pPr>
              <a:defRPr sz="2200" b="1">
                <a:solidFill>
                  <a:srgbClr val="F0F4FC"/>
                </a:solidFill>
                <a:latin typeface="Arial"/>
              </a:defRPr>
            </a:pPr>
            <a:r>
              <a:t>Summary of Key Achievements &amp; Technological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💎 Technical Breakthroughs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Sub-Microsecond Execution: Ultra-fast logic-based LUT (&lt; 1.75 µs) on low-cost DSPs.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Complete ZSC Suppression: Eliminates zero-sequence circulating current without bulky passive filters.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Full DC-Bus Utilization: Delivers Ma = 1.0 equivalent to 6-leg dual-inverters with 33% fewer switches.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Superior Power Efficiency: ~30% reduction in switching losses via adaptive switching frequency.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Inherent Fault Tolerance: Resilient against +/- 25% load unbalance and internal stator ITSC short circuits.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  <a:latin typeface="Arial"/>
              </a:defRPr>
            </a:pPr>
            <a:r>
              <a:t>📊 Validation &amp; Future Horizons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Triple-Layer Validation: Verified across digital simulations, Typhoon HIL real-time emulation, and physical GaN prototype.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IEEE TIE Publication: High-impact publication enabled directly by the experimental results.</a:t>
            </a:r>
          </a:p>
          <a:p>
            <a:pPr>
              <a:spcAft>
                <a:spcPts val="600"/>
              </a:spcAft>
              <a:defRPr sz="1200">
                <a:solidFill>
                  <a:srgbClr val="F0F4FC"/>
                </a:solidFill>
                <a:latin typeface="Calibri"/>
              </a:defRPr>
            </a:pPr>
            <a:r>
              <a:t>✦ Active Continuation: Ongoing research with newly acquired industrial PMSM and custom-built inverters.</a:t>
            </a:r>
          </a:p>
          <a:p>
            <a:pPr algn="r">
              <a:spcBef>
                <a:spcPts val="800"/>
              </a:spcBef>
              <a:defRPr sz="1100">
                <a:solidFill>
                  <a:srgbClr val="9CB3D9"/>
                </a:solidFill>
                <a:latin typeface="Arial"/>
              </a:defRPr>
            </a:pPr>
            <a:r>
              <a:t>המחקר ביסס את שיטת ה-OEPC כחלופה מעשית, יעילה ופורצת דרך עבור מנועי PMSM ורכבים חשמליים.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Arial"/>
              </a:defRPr>
            </a:pPr>
            <a:r>
              <a:t>OPEN FOR DISCUSSION</a:t>
            </a:r>
          </a:p>
          <a:p>
            <a:pPr algn="ctr">
              <a:spcBef>
                <a:spcPts val="1600"/>
              </a:spcBef>
              <a:defRPr sz="3600" b="1">
                <a:solidFill>
                  <a:srgbClr val="F0F4FC"/>
                </a:solidFill>
                <a:latin typeface="Arial"/>
              </a:defRPr>
            </a:pPr>
            <a:r>
              <a:t>Thank You for Your Attention!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9CB3D9"/>
                </a:solidFill>
                <a:latin typeface="Arial"/>
              </a:defRPr>
            </a:pPr>
            <a:r>
              <a:t>תודה רבה על ההקשבה - שאלות ותשובות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