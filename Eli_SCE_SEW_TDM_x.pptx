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</p:sldMasterIdLst>
  <p:notesMasterIdLst>
    <p:notesMasterId r:id="rId24"/>
  </p:notesMasterIdLst>
  <p:sldIdLst>
    <p:sldId id="481" r:id="rId2"/>
    <p:sldId id="446" r:id="rId3"/>
    <p:sldId id="482" r:id="rId4"/>
    <p:sldId id="483" r:id="rId5"/>
    <p:sldId id="484" r:id="rId6"/>
    <p:sldId id="485" r:id="rId7"/>
    <p:sldId id="487" r:id="rId8"/>
    <p:sldId id="486" r:id="rId9"/>
    <p:sldId id="488" r:id="rId10"/>
    <p:sldId id="489" r:id="rId11"/>
    <p:sldId id="490" r:id="rId12"/>
    <p:sldId id="491" r:id="rId13"/>
    <p:sldId id="492" r:id="rId14"/>
    <p:sldId id="493" r:id="rId15"/>
    <p:sldId id="494" r:id="rId16"/>
    <p:sldId id="495" r:id="rId17"/>
    <p:sldId id="496" r:id="rId18"/>
    <p:sldId id="497" r:id="rId19"/>
    <p:sldId id="498" r:id="rId20"/>
    <p:sldId id="499" r:id="rId21"/>
    <p:sldId id="500" r:id="rId22"/>
    <p:sldId id="311" r:id="rId23"/>
  </p:sldIdLst>
  <p:sldSz cx="12192000" cy="68580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FF9411-54DF-465B-A4DF-8A763663E805}">
          <p14:sldIdLst>
            <p14:sldId id="481"/>
            <p14:sldId id="446"/>
            <p14:sldId id="482"/>
            <p14:sldId id="483"/>
            <p14:sldId id="484"/>
            <p14:sldId id="485"/>
            <p14:sldId id="487"/>
            <p14:sldId id="486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מוריה אלקיים" initials="מא" lastIdx="1" clrIdx="0">
    <p:extLst>
      <p:ext uri="{19B8F6BF-5375-455C-9EA6-DF929625EA0E}">
        <p15:presenceInfo xmlns:p15="http://schemas.microsoft.com/office/powerpoint/2012/main" userId="S-1-5-21-1220750395-818509756-262303683-22080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6576B"/>
    <a:srgbClr val="28BCF2"/>
    <a:srgbClr val="FFFF00"/>
    <a:srgbClr val="000000"/>
    <a:srgbClr val="A9D245"/>
    <a:srgbClr val="07A3D9"/>
    <a:srgbClr val="FFFFFF"/>
    <a:srgbClr val="92D050"/>
    <a:srgbClr val="FE5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סגנון כהה 2 - הדגשה 1/הדגשה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1" autoAdjust="0"/>
    <p:restoredTop sz="91645" autoAdjust="0"/>
  </p:normalViewPr>
  <p:slideViewPr>
    <p:cSldViewPr snapToGrid="0">
      <p:cViewPr varScale="1">
        <p:scale>
          <a:sx n="72" d="100"/>
          <a:sy n="72" d="100"/>
        </p:scale>
        <p:origin x="1109" y="67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2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6T20:03:00.870"/>
    </inkml:context>
    <inkml:brush xml:id="br0">
      <inkml:brushProperty name="width" value="0.07938" units="cm"/>
      <inkml:brushProperty name="height" value="0.07938" units="cm"/>
      <inkml:brushProperty name="color" value="#E71224"/>
    </inkml:brush>
  </inkml:definitions>
  <inkml:trace contextRef="#ctx0" brushRef="#br0">2570 243 24575,'-27'-3'0,"2"-2"0,-2 0 0,2-2 0,0 0 0,0-3 0,-38-18 0,33 16 0,-44-13 0,1 2 0,-2 4 0,-101-11 0,140 24 0,-44-8 0,-9-2 0,1 4 0,-128-3 0,54 13 0,87-1 0,0 3 0,-83 12 0,139-7 0,3 0 0,-1 1 0,0 1 0,1 1 0,1 1 0,0-1 0,0 2 0,-1 2 0,1-2 0,2 1 0,-22 28 0,-17 8 0,17-17 0,2 3 0,1 0 0,2 2 0,2 2 0,-46 73 0,-51 94 0,85-144 0,30-47 0,0-1 0,2 1 0,-1 1 0,3-1 0,-9 21 0,-47 119 0,30-79 0,-28 102 0,25-92 0,28-72 0,2 1 0,0-1 0,0 1 0,0-1 0,2 1 0,0 0 0,-4 24 0,7 227 0,2-114 0,-2-137 0,1 2 0,1 0 0,0-1 0,1 1 0,0 0 0,1-2 0,1 1 0,0-1 0,0 0 0,1 1 0,1-1 0,15 20 0,-4-9 0,0-4 0,3 0 0,-1 0 0,0-2 0,41 27 0,-44-33 0,1 0 0,1-1 0,-1-1 0,2 0 0,0-1 0,0-1 0,27 7 0,73 25 0,-87-27 0,4-1 0,2-2 0,-1-2 0,0-1 0,58 3 0,-40-5 0,61 14 0,-42-8 0,0-2 0,2-4 0,140-7 0,-57-3 0,-71 2 0,113-19 0,-192 20 0,-2-1 0,2-1 0,-2 1 0,1 0 0,-1-2 0,0 1 0,9-7 0,-7 6 0,0-2 0,-1 2 0,1 0 0,0 2 0,11-6 0,213-39 0,-209 41 0,0 1 0,32-16 0,31-8 0,-53 22 0,-1-4 0,-3 0 0,3-1 0,39-26 0,-24 14 0,-3-3 0,63-47 0,-94 62 0,2-1 0,-2-1 0,-2 0 0,0-2 0,1 1 0,-1-1 0,-3-1 0,2 1 0,9-30 0,1 1 0,-4-1 0,-3-2 0,0 1 0,-3-2 0,-2 0 0,-3 0 0,3-92 0,-10 135 0,0-75 0,-2 1 0,-4-1 0,-5 0 0,-22-86 0,26 141 0,-1 0 0,-2 2 0,0 0 0,-2 0 0,-1 0 0,0 2 0,-2-1 0,-25-27 0,35 44 0,-2 2 0,2 1 0,-2-1 0,1 0 0,-1 2 0,-1 0 0,1-1 0,-8-2 0,6 2 0,1 1 0,0-2 0,-1 2 0,1-2 0,-10-9 0,-32-27 0,-44-39 0,78 63 43,-5 0-1,-30-21 0,-11-7-1534,47 30-5334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6T20:03:46.937"/>
    </inkml:context>
    <inkml:brush xml:id="br0">
      <inkml:brushProperty name="width" value="0.07938" units="cm"/>
      <inkml:brushProperty name="height" value="0.07938" units="cm"/>
      <inkml:brushProperty name="color" value="#E71224"/>
    </inkml:brush>
  </inkml:definitions>
  <inkml:trace contextRef="#ctx0" brushRef="#br0">2570 243 24575,'-27'-3'0,"2"-2"0,-2 0 0,2-2 0,0 0 0,0-3 0,-38-18 0,33 16 0,-44-13 0,1 2 0,-2 4 0,-101-11 0,140 24 0,-44-8 0,-9-2 0,1 4 0,-128-3 0,54 13 0,87-1 0,0 3 0,-83 12 0,139-7 0,3 0 0,-1 1 0,0 1 0,1 1 0,1 1 0,0-1 0,0 2 0,-1 2 0,1-2 0,2 1 0,-22 28 0,-17 8 0,17-17 0,2 3 0,1 0 0,2 2 0,2 2 0,-46 73 0,-51 94 0,85-144 0,30-47 0,0-1 0,2 1 0,-1 1 0,3-1 0,-9 21 0,-47 119 0,30-79 0,-28 102 0,25-92 0,28-72 0,2 1 0,0-1 0,0 1 0,0-1 0,2 1 0,0 0 0,-4 24 0,7 227 0,2-114 0,-2-137 0,1 2 0,1 0 0,0-1 0,1 1 0,0 0 0,1-2 0,1 1 0,0-1 0,0 0 0,1 1 0,1-1 0,15 20 0,-4-9 0,0-4 0,3 0 0,-1 0 0,0-2 0,41 27 0,-44-33 0,1 0 0,1-1 0,-1-1 0,2 0 0,0-1 0,0-1 0,27 7 0,73 25 0,-87-27 0,4-1 0,2-2 0,-1-2 0,0-1 0,58 3 0,-40-5 0,61 14 0,-42-8 0,0-2 0,2-4 0,140-7 0,-57-3 0,-71 2 0,113-19 0,-192 20 0,-2-1 0,2-1 0,-2 1 0,1 0 0,-1-2 0,0 1 0,9-7 0,-7 6 0,0-2 0,-1 2 0,1 0 0,0 2 0,11-6 0,213-39 0,-209 41 0,0 1 0,32-16 0,31-8 0,-53 22 0,-1-4 0,-3 0 0,3-1 0,39-26 0,-24 14 0,-3-3 0,63-47 0,-94 62 0,2-1 0,-2-1 0,-2 0 0,0-2 0,1 1 0,-1-1 0,-3-1 0,2 1 0,9-30 0,1 1 0,-4-1 0,-3-2 0,0 1 0,-3-2 0,-2 0 0,-3 0 0,3-92 0,-10 135 0,0-75 0,-2 1 0,-4-1 0,-5 0 0,-22-86 0,26 141 0,-1 0 0,-2 2 0,0 0 0,-2 0 0,-1 0 0,0 2 0,-2-1 0,-25-27 0,35 44 0,-2 2 0,2 1 0,-2-1 0,1 0 0,-1 2 0,-1 0 0,1-1 0,-8-2 0,6 2 0,1 1 0,0-2 0,-1 2 0,1-2 0,-10-9 0,-32-27 0,-44-39 0,78 63 43,-5 0-1,-30-21 0,-11-7-1534,47 30-5334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6T20:03:56.363"/>
    </inkml:context>
    <inkml:brush xml:id="br0">
      <inkml:brushProperty name="width" value="0.07938" units="cm"/>
      <inkml:brushProperty name="height" value="0.07938" units="cm"/>
      <inkml:brushProperty name="color" value="#E71224"/>
    </inkml:brush>
  </inkml:definitions>
  <inkml:trace contextRef="#ctx0" brushRef="#br0">1887 179 24575,'-20'-3'0,"2"0"0,-2-1 0,2-1 0,-1 0 0,1-2 0,-29-14 0,25 12 0,-32-9 0,0 1 0,-1 3 0,-73-8 0,101 17 0,-32-4 0,-6-4 0,0 5 0,-93-3 0,39 9 0,64 0 0,0 2 0,-62 9 0,104-6 0,1 1 0,0 1 0,-1 0 0,1 1 0,1 0 0,0 0 0,0 1 0,0 2 0,0-2 0,1 2 0,-16 19 0,-12 6 0,13-11 0,0 1 0,2 1 0,1 0 0,1 2 0,-33 54 0,-38 69 0,63-106 0,21-35 0,1 0 0,1 1 0,0 0 0,1-1 0,-6 16 0,-34 88 0,21-59 0,-20 75 0,18-67 0,22-54 0,0 2 0,0-1 0,0 0 0,1 0 0,0 1 0,1 0 0,-3 17 0,5 166 0,1-83 0,-1-100 0,1 1 0,1 0 0,-1-1 0,1 1 0,1 0 0,-1-1 0,2 0 0,0 0 0,-1-1 0,2 1 0,0 0 0,11 14 0,-3-6 0,1-4 0,1 1 0,-1 0 0,1-2 0,30 20 0,-32-24 0,0-1 0,1 1 0,-1-2 0,2 1 0,-1-2 0,1 0 0,20 5 0,53 18 0,-64-19 0,3-1 0,1-2 0,1-1 0,-1-1 0,42 3 0,-29-5 0,45 11 0,-31-6 0,0-2 0,2-2 0,102-5 0,-41-3 0,-54 2 0,85-14 0,-142 15 0,-1-2 0,2 1 0,-2-1 0,0 1 0,0-2 0,0 2 0,6-7 0,-4 5 0,-1-1 0,-1 2 0,1-1 0,1 2 0,8-4 0,155-30 0,-152 31 0,-1 0 0,24-11 0,23-6 0,-40 16 0,0-2 0,-2-1 0,2-1 0,29-18 0,-19 10 0,-1-3 0,46-34 0,-69 45 0,1 0 0,-1-1 0,-1 0 0,0-1 0,0-1 0,0 1 0,-3-1 0,2 0 0,6-21 0,1 0 0,-2 0 0,-3-2 0,0 1 0,-3-2 0,0 0 0,-3 0 0,2-67 0,-7 99 0,0-55 0,-1 0 0,-4 0 0,-2 0 0,-18-64 0,20 105 0,-1-1 0,-1 2 0,-1-1 0,0 1 0,-2 0 0,0 0 0,-1 1 0,-18-21 0,25 33 0,-1 2 0,1 0 0,0 0 0,-1-1 0,0 1 0,-1 1 0,1 0 0,-6-3 0,5 2 0,-1 1 0,1-2 0,0 2 0,0-2 0,-7-6 0,-24-20 0,-32-29 0,57 46 43,-3 1-1,-23-16 0,-7-5-1534,34 22-5334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6:52:54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24575,'-3'0'0,"11"1"0,91 6 0,-40 2 0,0-3 0,1-3 0,77-6 0,-26 1 0,-93 2 0,-10-1 0,-1 1 0,1 0 0,-1 0 0,1 1 0,9 2 0,-15-2 0,0 0 0,0-1 0,0 1 0,0 0 0,-1 0 0,1 0 0,0 0 0,-1 0 0,1 1 0,-1-1 0,1 0 0,-1 1 0,0-1 0,0 1 0,1-1 0,-1 1 0,0 0 0,0 0 0,0-1 0,-1 1 0,1 0 0,0 0 0,-1 0 0,1 0 0,-1 2 0,2 12 0,-1-1 0,0 1 0,-3 22 0,1-25 0,0 0 0,1 1 0,1-1 0,0 0 0,4 20 0,-1-11 0,0-1 0,-2 1 0,0 41 0,-2-38 0,1-1 0,7 40 0,3 23 0,-8-47 0,-3-38-136,1 0-1,-1 1 1,0-1-1,1 0 1,0 1-1,-1-1 1,1 0-1,0 0 0,2 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6:53:00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 24575,'1'5'0,"1"1"0,-1-1 0,2 0 0,-1 0 0,0 0 0,1-1 0,0 1 0,0-1 0,0 1 0,7 6 0,1 3 0,4 8 0,-11-14 0,1 0 0,0-1 0,1 1 0,0-1 0,12 11 0,-16-17 0,-1 1 0,1-1 0,-1 0 0,1-1 0,0 1 0,0 0 0,-1 0 0,1-1 0,0 1 0,0-1 0,0 1 0,0-1 0,0 0 0,0 0 0,-1 0 0,1 0 0,0 0 0,0 0 0,0-1 0,0 1 0,0 0 0,0-1 0,-1 0 0,1 1 0,0-1 0,0 0 0,-1 0 0,1 0 0,0 0 0,-1 0 0,1 0 0,-1-1 0,2-1 0,36-35 0,-28 26 0,1 0 0,20-15 0,-23 18-9,1 0 0,-1-1 0,0 0 0,-1-1 0,-1 0 0,1 0 0,-2-1 0,1 0 0,-2 0 0,5-13 0,11-21-1257,-15 34-5560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6:57:51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1 728 24575,'0'-2'0,"1"0"0,0-1 0,0 1 0,0 0 0,1-1 0,-1 1 0,0 0 0,1 0 0,0 0 0,-1 0 0,1 0 0,0 0 0,0 1 0,0-1 0,0 1 0,0-1 0,0 1 0,0 0 0,1 0 0,-1 0 0,4-2 0,54-18 0,-21 8 0,-1-3 0,0-1 0,-2-1 0,0-3 0,60-44 0,-43 29 0,74-39 0,341-129 0,-288 130 0,44-15 0,-199 80 0,0 2 0,1 0 0,-1 2 0,1 1 0,1 1 0,41 1 0,-56 2 0,0 2 0,0-1 0,0 2 0,0-1 0,-1 2 0,1-1 0,-1 2 0,1-1 0,-1 2 0,-1-1 0,1 2 0,-1-1 0,0 1 0,0 1 0,-1 0 0,11 12 0,116 152 0,-122-148 0,24 49 0,-27-48 0,1-1 0,19 27 0,-20-34 0,-1 1 0,0 1 0,-1-1 0,-1 1 0,-1 1 0,0 0 0,6 34 0,-7-11 0,-1 0 0,-1 72 0,-3-88 0,1-1 0,7 29 0,3 49 0,-13-88 0,0 1 0,0-1 0,-2 0 0,0 0 0,-1 0 0,-1-1 0,0 1 0,-1-1 0,0 0 0,-16 25 0,15-29 0,0 0 0,-1-1 0,0 0 0,-1-1 0,0 0 0,0 0 0,-1-1 0,0 0 0,0-1 0,-1 0 0,0 0 0,0-1 0,-1-1 0,-15 6 0,-10-2 0,1-1 0,-2-3 0,1 0 0,-1-3 0,1-1 0,-67-6 0,87 2 0,1 0 0,-1-1 0,-25-9 0,27 7 0,-1 1 0,0 1 0,0 0 0,-17-1 0,30 5 0,0 0 0,0 0 0,0 0 0,0 0 0,0-1 0,1 1 0,-1-1 0,0 0 0,0 0 0,0 0 0,1 0 0,-1-1 0,1 1 0,-1-1 0,1 1 0,-1-1 0,1 0 0,0 0 0,-2-2 0,3 1 0,0 1 0,0-1 0,1 1 0,-1-1 0,1 1 0,0-1 0,0 1 0,0-1 0,0 1 0,0-1 0,0 1 0,1-1 0,-1 1 0,1-1 0,0 1 0,0-1 0,0 1 0,0 0 0,0 0 0,0-1 0,0 1 0,4-4 0,-2 1 0,1 0 0,-1 0 0,1 0 0,1 1 0,-1-1 0,1 1 0,-1 0 0,1 0 0,1 1 0,-1 0 0,6-3 0,-37 23 0,-40 35 0,39-29 0,25-22 0,0 1 0,0 0 0,0-1 0,0 1 0,0 0 0,1 0 0,-1 0 0,1 1 0,-1-1 0,1 0 0,0 1 0,-1-1 0,1 0 0,1 1 0,-1-1 0,0 1 0,1 0 0,-1-1 0,1 1 0,0 0 0,-1-1 0,1 1 0,1 0 0,-1-1 0,0 1 0,1-1 0,-1 1 0,1 0 0,0-1 0,0 1 0,0-1 0,0 1 0,0-1 0,0 0 0,1 0 0,-1 1 0,1-1 0,0 0 0,0 0 0,3 3 0,10 10 0,1-1 0,0-1 0,1 0 0,22 12 0,-19-12 0,-1 0-118,-4-5-38,-1 1 0,0 1 0,-1 0 0,0 1 0,-1 0 1,0 1-1,19 25 0,-24-22-6670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6:57:52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24575,'0'-4'0,"4"-1"0,5-4 0,6-1 0,3-2 0,4 1 0,-3-2 0,0 1 0,0 3 0,2 3 0,-4 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7T21:28:2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24575,'6'1'0,"-1"-1"0,0 1 0,0 0 0,0 1 0,0-1 0,0 1 0,0 0 0,0 0 0,0 0 0,-1 1 0,1 0 0,-1 0 0,6 4 0,6 7 0,28 32 0,-28-29 0,-11-11 0,1 0 0,-1 1 0,-1 0 0,1 0 0,-1 0 0,-1 0 0,1 0 0,3 12 0,-6-17 0,-1 0 0,0 0 0,1 0 0,-1-1 0,0 1 0,0 0 0,1 0 0,-1 0 0,-1 0 0,1 0 0,0-1 0,0 1 0,-1 0 0,1 0 0,-1 0 0,0-1 0,1 1 0,-1 0 0,0-1 0,0 1 0,0-1 0,0 1 0,0-1 0,-1 1 0,1-1 0,0 0 0,-1 1 0,1-1 0,0 0 0,-1 0 0,0 0 0,1 0 0,-1 0 0,0-1 0,1 1 0,-1 0 0,0-1 0,0 1 0,1-1 0,-1 0 0,0 0 0,0 1 0,-2-1 0,-186 15 0,159-13 0,6 0-1365,1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7T21:28:25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24575,'6'1'0,"-1"-1"0,0 1 0,0 0 0,0 1 0,0-1 0,0 1 0,0 0 0,0 0 0,0 0 0,-1 1 0,1 0 0,-1 0 0,6 4 0,6 7 0,28 32 0,-28-29 0,-11-11 0,1 0 0,-1 1 0,-1 0 0,1 0 0,-1 0 0,-1 0 0,1 0 0,3 12 0,-6-17 0,-1 0 0,0 0 0,1 0 0,-1-1 0,0 1 0,0 0 0,1 0 0,-1 0 0,-1 0 0,1 0 0,0-1 0,0 1 0,-1 0 0,1 0 0,-1 0 0,0-1 0,1 1 0,-1 0 0,0-1 0,0 1 0,0-1 0,0 1 0,0-1 0,-1 1 0,1-1 0,0 0 0,-1 1 0,1-1 0,0 0 0,-1 0 0,0 0 0,1 0 0,-1 0 0,0-1 0,1 1 0,-1 0 0,0-1 0,0 1 0,1-1 0,-1 0 0,0 0 0,0 1 0,-2-1 0,-186 15 0,159-13 0,6 0-1365,1 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7T21:28:32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24575,'6'1'0,"-1"-1"0,0 1 0,0 0 0,0 1 0,0-1 0,0 1 0,0 0 0,0 0 0,0 0 0,-1 1 0,1 0 0,-1 0 0,6 4 0,6 7 0,28 32 0,-28-29 0,-11-11 0,1 0 0,-1 1 0,-1 0 0,1 0 0,-1 0 0,-1 0 0,1 0 0,3 12 0,-6-17 0,-1 0 0,0 0 0,1 0 0,-1-1 0,0 1 0,0 0 0,1 0 0,-1 0 0,-1 0 0,1 0 0,0-1 0,0 1 0,-1 0 0,1 0 0,-1 0 0,0-1 0,1 1 0,-1 0 0,0-1 0,0 1 0,0-1 0,0 1 0,0-1 0,-1 1 0,1-1 0,0 0 0,-1 1 0,1-1 0,0 0 0,-1 0 0,0 0 0,1 0 0,-1 0 0,0-1 0,1 1 0,-1 0 0,0-1 0,0 1 0,1-1 0,-1 0 0,0 0 0,0 1 0,-2-1 0,-186 15 0,159-13 0,6 0-1365,1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799" cy="463408"/>
          </a:xfrm>
          <a:prstGeom prst="rect">
            <a:avLst/>
          </a:prstGeom>
        </p:spPr>
        <p:txBody>
          <a:bodyPr vert="horz" lIns="89225" tIns="44613" rIns="89225" bIns="4461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6" y="2"/>
            <a:ext cx="2971799" cy="463408"/>
          </a:xfrm>
          <a:prstGeom prst="rect">
            <a:avLst/>
          </a:prstGeom>
        </p:spPr>
        <p:txBody>
          <a:bodyPr vert="horz" lIns="89225" tIns="44613" rIns="89225" bIns="44613" rtlCol="0"/>
          <a:lstStyle>
            <a:lvl1pPr algn="r">
              <a:defRPr sz="1200"/>
            </a:lvl1pPr>
          </a:lstStyle>
          <a:p>
            <a:fld id="{B2EE206F-AEAE-4FF6-B922-BDFE5D95A223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0400" y="1155700"/>
            <a:ext cx="5537200" cy="3116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225" tIns="44613" rIns="89225" bIns="4461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44864"/>
            <a:ext cx="5486400" cy="3636705"/>
          </a:xfrm>
          <a:prstGeom prst="rect">
            <a:avLst/>
          </a:prstGeom>
        </p:spPr>
        <p:txBody>
          <a:bodyPr vert="horz" lIns="89225" tIns="44613" rIns="89225" bIns="4461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772673"/>
            <a:ext cx="2971799" cy="463407"/>
          </a:xfrm>
          <a:prstGeom prst="rect">
            <a:avLst/>
          </a:prstGeom>
        </p:spPr>
        <p:txBody>
          <a:bodyPr vert="horz" lIns="89225" tIns="44613" rIns="89225" bIns="4461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6" y="8772673"/>
            <a:ext cx="2971799" cy="463407"/>
          </a:xfrm>
          <a:prstGeom prst="rect">
            <a:avLst/>
          </a:prstGeom>
        </p:spPr>
        <p:txBody>
          <a:bodyPr vert="horz" lIns="89225" tIns="44613" rIns="89225" bIns="44613" rtlCol="0" anchor="b"/>
          <a:lstStyle>
            <a:lvl1pPr algn="r">
              <a:defRPr sz="1200"/>
            </a:lvl1pPr>
          </a:lstStyle>
          <a:p>
            <a:fld id="{9F70F5FD-C375-44B2-8A85-2859F2C92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0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892258" rtl="1">
              <a:defRPr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23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07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72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74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27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23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46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70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3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09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89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22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77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40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13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07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86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658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976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89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51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60400" y="1155700"/>
            <a:ext cx="5537200" cy="3116263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0F5FD-C375-44B2-8A85-2859F2C92E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59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96D3-184A-4FF8-A68B-6C161209E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F358D-30E6-4818-AEC6-5D3894212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08F9-8788-4BFF-86DC-AE3D599C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54C4-0A8A-4D97-B146-55C7A81F58C4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A09FD-2920-4BCB-B936-73E5CD38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A8E8F-7BFC-4DE5-858E-D65DE004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85B70-6583-407B-906A-F0A937F0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7385-273B-42FD-A730-6B6BE9555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B233-4800-4228-B190-BD347C61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A24D-52FD-4F8D-BEBC-2C131356AD11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B74-E827-4F74-ABC4-6BAB8876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7D971-2E5E-4882-9AF5-11C5CFA2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B2F5-68DB-449F-BCB3-AD499FA7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B0E22-F9E4-4ADB-A35C-FF44AC661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DB9A9-530F-4624-B8C3-DDCCEF90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31C20-9D16-471F-AD8F-CA37ACF54B66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81D9-58DD-4B6E-B861-0F0E3CF7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F0ACA-1982-4D31-A34D-5F4AD8FE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1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A775-A9B1-40D9-A1C5-9593F098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DDD24-630B-44AF-861E-D5E14F538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62422-772A-4B81-A035-037541971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CD87B-8527-43C1-8284-7762BD9E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AEC28-7FFC-49D9-85C4-BCCD1F3E0FBE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3E424-B359-4C2B-A2DC-B89FDA1B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AEC3B-B405-47AE-8AB7-8521E01D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0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3A7E-7758-4551-A1EB-1641F231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564D2-F1C3-4444-B59B-A416174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5B648-9C73-46E2-AB07-352175D17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B4ABA-119E-4595-8C8F-EBA0FA58A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83ACD-D71E-46EE-9505-BDA61E21A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21EC20-C8C3-4EC3-94F8-FD9A7090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67A59-CCF2-4DC1-91E3-8EDDA1EBCA8C}" type="datetime1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C7412-71ED-4299-9585-1475C35D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B5812-C6A8-4A16-9CB9-110109E7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6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25B5-6F0F-439E-84F2-B8373A2E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1B490-B662-4EA6-94A1-A9148330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2DB10-060E-461D-BAFD-7B5555B2CF31}" type="datetime1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8199F-89A2-48F8-964D-435AB8C9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67153-51F0-4401-BFFA-177D9FAF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46DB5-1505-4F1F-ACB1-CCE531C8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17B8-89B3-49BC-AED3-5BE962F4108E}" type="datetime1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F2534-2E3D-42AD-BAD9-FDD20765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D56D4-BAB8-4727-A8F2-7C4F9E5F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F942-76BC-48B7-BAC8-0D1740645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1801-4C59-4B95-B8F5-8C1C7AB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AF477-788E-42A4-AD33-709FD4F9F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D59AD-0560-4D24-B63B-3E58E229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1319-8AD5-4B6E-874F-A279AF97F8B7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67D67-A7FF-43F3-A7E3-0DF92FEA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EAA53-1493-4F1F-B626-9E021F57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7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6C8D-3465-4542-8298-BC09C337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F2CF57-ECD2-4906-8758-AC8E9A13E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8D91F-CB31-4AF2-9797-69506904E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9A4DB-78E3-447D-9269-AAD3A1A2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146-6C40-42E3-9E19-967E4EF482F2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71198-7B4B-41F8-BE31-9BA687D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B2AA-70AC-4F03-88FA-34DA1920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2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9BFF-02D1-4587-AD5D-8AD7F866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89235-50EE-4451-AB5C-A45A6A39B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7E4A5-53BA-4BDB-A627-0505E148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EB98-74D2-4E45-ACDB-D88F9752B899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B343B-DFBC-4508-8BEB-0BD357AA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E98E5-6AE4-4B00-86A0-F706F02D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7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25792-B75C-43F0-AC2A-9A0646C8A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813AB-4E9A-4CE8-89EA-C70CD1250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8A0D-31F7-44C9-84EB-B8F70FC1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5DD-219A-4447-8683-9BD4C59B147C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87307-B8D1-4B5D-B2B0-6EB38553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62280-9CD3-4060-B709-BE2507A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20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1" y="342109"/>
            <a:ext cx="6673851" cy="549275"/>
          </a:xfrm>
          <a:prstGeom prst="roundRect">
            <a:avLst>
              <a:gd name="adj" fmla="val 50000"/>
            </a:avLst>
          </a:prstGeom>
          <a:solidFill>
            <a:srgbClr val="85CC18"/>
          </a:solidFill>
        </p:spPr>
        <p:txBody>
          <a:bodyPr lIns="182880" tIns="182880" bIns="18288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A24D-52FD-4F8D-BEBC-2C131356AD11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25173" y="6356354"/>
            <a:ext cx="367667" cy="365125"/>
          </a:xfrm>
        </p:spPr>
        <p:txBody>
          <a:bodyPr lIns="0" rIns="0"/>
          <a:lstStyle>
            <a:lvl1pPr algn="ctr">
              <a:defRPr sz="900"/>
            </a:lvl1pPr>
          </a:lstStyle>
          <a:p>
            <a:fld id="{3DE3E19F-02C1-4219-A00A-045ED1850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23895" y="1353136"/>
            <a:ext cx="1920924" cy="1920924"/>
          </a:xfrm>
          <a:prstGeom prst="flowChartConnector">
            <a:avLst/>
          </a:prstGeom>
          <a:ln w="28575">
            <a:noFill/>
            <a:prstDash val="lgDashDot"/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3284739" y="1404797"/>
            <a:ext cx="1920924" cy="1920924"/>
          </a:xfrm>
          <a:prstGeom prst="flowChartConnector">
            <a:avLst/>
          </a:prstGeom>
          <a:ln w="28575">
            <a:noFill/>
            <a:prstDash val="lgDashDot"/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523895" y="3820880"/>
            <a:ext cx="1920924" cy="1920924"/>
          </a:xfrm>
          <a:prstGeom prst="flowChartConnector">
            <a:avLst/>
          </a:prstGeom>
          <a:ln w="28575">
            <a:noFill/>
            <a:prstDash val="lgDashDot"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3284739" y="3895609"/>
            <a:ext cx="1920924" cy="1920924"/>
          </a:xfrm>
          <a:prstGeom prst="flowChartConnector">
            <a:avLst/>
          </a:prstGeom>
          <a:ln w="28575">
            <a:noFill/>
            <a:prstDash val="lgDashDot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5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A7CF3-7656-44F7-820F-38601722D2CD}" type="datetime1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www.presentatiostemplate.com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E19F-02C1-4219-A00A-045ED18507E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429251" y="1724025"/>
            <a:ext cx="1333500" cy="1333500"/>
          </a:xfrm>
          <a:prstGeom prst="flowChartConnector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8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08D63-F5C3-473E-9EA2-A73017729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228B5-699F-48B2-80A2-2A9205C86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11BFA-A3B6-4C42-BA2F-ABA233B41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1033A-9890-4229-AAE6-1CB03069F4AF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036C4-52A8-45D0-8BB3-A234DF96D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www.presentatiostemplate.com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42DC3-804F-4812-A5F9-7F4A11B43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3E19F-02C1-4219-A00A-045ED185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6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662" r:id="rId12"/>
    <p:sldLayoutId id="2147483660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3.xml"/><Relationship Id="rId4" Type="http://schemas.openxmlformats.org/officeDocument/2006/relationships/image" Target="../media/image4.png"/><Relationship Id="rId9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.bin"/><Relationship Id="rId18" Type="http://schemas.openxmlformats.org/officeDocument/2006/relationships/image" Target="../media/image21.png"/><Relationship Id="rId26" Type="http://schemas.openxmlformats.org/officeDocument/2006/relationships/image" Target="../media/image23.wmf"/><Relationship Id="rId21" Type="http://schemas.openxmlformats.org/officeDocument/2006/relationships/oleObject" Target="../embeddings/oleObject4.bin"/><Relationship Id="rId34" Type="http://schemas.openxmlformats.org/officeDocument/2006/relationships/image" Target="../media/image27.wmf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17" Type="http://schemas.openxmlformats.org/officeDocument/2006/relationships/customXml" Target="../ink/ink7.xml"/><Relationship Id="rId25" Type="http://schemas.openxmlformats.org/officeDocument/2006/relationships/oleObject" Target="../embeddings/oleObject6.bin"/><Relationship Id="rId33" Type="http://schemas.openxmlformats.org/officeDocument/2006/relationships/oleObject" Target="../embeddings/oleObject10.bin"/><Relationship Id="rId38" Type="http://schemas.openxmlformats.org/officeDocument/2006/relationships/image" Target="../media/image29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0.png"/><Relationship Id="rId20" Type="http://schemas.openxmlformats.org/officeDocument/2006/relationships/image" Target="../media/image20.wmf"/><Relationship Id="rId29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24" Type="http://schemas.openxmlformats.org/officeDocument/2006/relationships/image" Target="../media/image22.wmf"/><Relationship Id="rId32" Type="http://schemas.openxmlformats.org/officeDocument/2006/relationships/image" Target="../media/image26.wmf"/><Relationship Id="rId37" Type="http://schemas.openxmlformats.org/officeDocument/2006/relationships/oleObject" Target="../embeddings/oleObject12.bin"/><Relationship Id="rId5" Type="http://schemas.openxmlformats.org/officeDocument/2006/relationships/image" Target="../media/image15.png"/><Relationship Id="rId15" Type="http://schemas.openxmlformats.org/officeDocument/2006/relationships/customXml" Target="../ink/ink6.xml"/><Relationship Id="rId23" Type="http://schemas.openxmlformats.org/officeDocument/2006/relationships/oleObject" Target="../embeddings/oleObject5.bin"/><Relationship Id="rId28" Type="http://schemas.openxmlformats.org/officeDocument/2006/relationships/image" Target="../media/image24.wmf"/><Relationship Id="rId36" Type="http://schemas.openxmlformats.org/officeDocument/2006/relationships/image" Target="../media/image28.wmf"/><Relationship Id="rId10" Type="http://schemas.openxmlformats.org/officeDocument/2006/relationships/image" Target="../media/image19.png"/><Relationship Id="rId19" Type="http://schemas.openxmlformats.org/officeDocument/2006/relationships/oleObject" Target="../embeddings/oleObject3.bin"/><Relationship Id="rId31" Type="http://schemas.openxmlformats.org/officeDocument/2006/relationships/oleObject" Target="../embeddings/oleObject9.bin"/><Relationship Id="rId4" Type="http://schemas.openxmlformats.org/officeDocument/2006/relationships/image" Target="../media/image14.png"/><Relationship Id="rId9" Type="http://schemas.openxmlformats.org/officeDocument/2006/relationships/customXml" Target="../ink/ink4.xml"/><Relationship Id="rId14" Type="http://schemas.openxmlformats.org/officeDocument/2006/relationships/image" Target="../media/image19.wmf"/><Relationship Id="rId22" Type="http://schemas.openxmlformats.org/officeDocument/2006/relationships/image" Target="../media/image21.wmf"/><Relationship Id="rId27" Type="http://schemas.openxmlformats.org/officeDocument/2006/relationships/oleObject" Target="../embeddings/oleObject7.bin"/><Relationship Id="rId30" Type="http://schemas.openxmlformats.org/officeDocument/2006/relationships/image" Target="../media/image25.wmf"/><Relationship Id="rId35" Type="http://schemas.openxmlformats.org/officeDocument/2006/relationships/oleObject" Target="../embeddings/oleObject11.bin"/><Relationship Id="rId8" Type="http://schemas.openxmlformats.org/officeDocument/2006/relationships/image" Target="../media/image18.png"/><Relationship Id="rId3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30.png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37.wmf"/><Relationship Id="rId2" Type="http://schemas.openxmlformats.org/officeDocument/2006/relationships/notesSlide" Target="../notesSlides/notesSlide5.xml"/><Relationship Id="rId16" Type="http://schemas.openxmlformats.org/officeDocument/2006/relationships/oleObject" Target="../embeddings/oleObject18.bin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34.wmf"/><Relationship Id="rId5" Type="http://schemas.openxmlformats.org/officeDocument/2006/relationships/image" Target="../media/image31.e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48.wmf"/><Relationship Id="rId26" Type="http://schemas.openxmlformats.org/officeDocument/2006/relationships/image" Target="../media/image52.wmf"/><Relationship Id="rId3" Type="http://schemas.openxmlformats.org/officeDocument/2006/relationships/image" Target="../media/image40.png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29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51.e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53.wmf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41.png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46.wmf"/><Relationship Id="rId22" Type="http://schemas.openxmlformats.org/officeDocument/2006/relationships/image" Target="../media/image50.wmf"/><Relationship Id="rId27" Type="http://schemas.openxmlformats.org/officeDocument/2006/relationships/oleObject" Target="../embeddings/oleObject31.bin"/><Relationship Id="rId30" Type="http://schemas.openxmlformats.org/officeDocument/2006/relationships/image" Target="../media/image5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wmf"/><Relationship Id="rId14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68.wmf"/><Relationship Id="rId18" Type="http://schemas.openxmlformats.org/officeDocument/2006/relationships/image" Target="../media/image53.wmf"/><Relationship Id="rId3" Type="http://schemas.openxmlformats.org/officeDocument/2006/relationships/image" Target="../media/image66.png"/><Relationship Id="rId21" Type="http://schemas.openxmlformats.org/officeDocument/2006/relationships/customXml" Target="../ink/ink8.xml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4.bin"/><Relationship Id="rId17" Type="http://schemas.openxmlformats.org/officeDocument/2006/relationships/oleObject" Target="../embeddings/oleObject31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44.wmf"/><Relationship Id="rId24" Type="http://schemas.openxmlformats.org/officeDocument/2006/relationships/customXml" Target="../ink/ink10.xml"/><Relationship Id="rId5" Type="http://schemas.openxmlformats.org/officeDocument/2006/relationships/image" Target="../media/image9.png"/><Relationship Id="rId15" Type="http://schemas.openxmlformats.org/officeDocument/2006/relationships/oleObject" Target="../embeddings/oleObject30.bin"/><Relationship Id="rId23" Type="http://schemas.openxmlformats.org/officeDocument/2006/relationships/customXml" Target="../ink/ink9.xml"/><Relationship Id="rId10" Type="http://schemas.openxmlformats.org/officeDocument/2006/relationships/oleObject" Target="../embeddings/oleObject22.bin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67.png"/><Relationship Id="rId9" Type="http://schemas.openxmlformats.org/officeDocument/2006/relationships/image" Target="../media/image43.wmf"/><Relationship Id="rId14" Type="http://schemas.openxmlformats.org/officeDocument/2006/relationships/image" Target="../media/image69.png"/><Relationship Id="rId22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76.wmf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9.png"/><Relationship Id="rId21" Type="http://schemas.openxmlformats.org/officeDocument/2006/relationships/image" Target="../media/image78.png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40.bin"/><Relationship Id="rId25" Type="http://schemas.openxmlformats.org/officeDocument/2006/relationships/image" Target="../media/image53.wmf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oleObject" Target="../embeddings/oleObject37.bin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70.wmf"/><Relationship Id="rId15" Type="http://schemas.openxmlformats.org/officeDocument/2006/relationships/oleObject" Target="../embeddings/oleObject39.bin"/><Relationship Id="rId23" Type="http://schemas.openxmlformats.org/officeDocument/2006/relationships/image" Target="../media/image52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41.bin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74.wmf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5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68.wmf"/><Relationship Id="rId18" Type="http://schemas.openxmlformats.org/officeDocument/2006/relationships/oleObject" Target="../embeddings/oleObject45.bin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83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81.wmf"/><Relationship Id="rId25" Type="http://schemas.openxmlformats.org/officeDocument/2006/relationships/image" Target="../media/image85.wmf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48.bin"/><Relationship Id="rId5" Type="http://schemas.openxmlformats.org/officeDocument/2006/relationships/image" Target="../media/image41.png"/><Relationship Id="rId15" Type="http://schemas.openxmlformats.org/officeDocument/2006/relationships/image" Target="../media/image80.wmf"/><Relationship Id="rId23" Type="http://schemas.openxmlformats.org/officeDocument/2006/relationships/image" Target="../media/image84.w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86.wmf"/><Relationship Id="rId3" Type="http://schemas.openxmlformats.org/officeDocument/2006/relationships/image" Target="../media/image41.png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68.wmf"/><Relationship Id="rId5" Type="http://schemas.openxmlformats.org/officeDocument/2006/relationships/image" Target="../media/image42.wmf"/><Relationship Id="rId15" Type="http://schemas.openxmlformats.org/officeDocument/2006/relationships/image" Target="../media/image87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88.wmf"/><Relationship Id="rId18" Type="http://schemas.openxmlformats.org/officeDocument/2006/relationships/oleObject" Target="../embeddings/oleObject53.bin"/><Relationship Id="rId3" Type="http://schemas.openxmlformats.org/officeDocument/2006/relationships/image" Target="../media/image41.png"/><Relationship Id="rId21" Type="http://schemas.openxmlformats.org/officeDocument/2006/relationships/image" Target="../media/image93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91.wmf"/><Relationship Id="rId2" Type="http://schemas.openxmlformats.org/officeDocument/2006/relationships/notesSlide" Target="../notesSlides/notesSlide12.xml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68.wmf"/><Relationship Id="rId5" Type="http://schemas.openxmlformats.org/officeDocument/2006/relationships/image" Target="../media/image42.wmf"/><Relationship Id="rId15" Type="http://schemas.openxmlformats.org/officeDocument/2006/relationships/image" Target="../media/image90.e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44.wmf"/><Relationship Id="rId14" Type="http://schemas.openxmlformats.org/officeDocument/2006/relationships/image" Target="../media/image8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61.bin"/><Relationship Id="rId3" Type="http://schemas.openxmlformats.org/officeDocument/2006/relationships/image" Target="../media/image94.png"/><Relationship Id="rId21" Type="http://schemas.openxmlformats.org/officeDocument/2006/relationships/image" Target="../media/image104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102.w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99.wmf"/><Relationship Id="rId5" Type="http://schemas.openxmlformats.org/officeDocument/2006/relationships/image" Target="../media/image96.png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103.wmf"/><Relationship Id="rId4" Type="http://schemas.openxmlformats.org/officeDocument/2006/relationships/image" Target="../media/image95.png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5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png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10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100.wmf"/><Relationship Id="rId4" Type="http://schemas.openxmlformats.org/officeDocument/2006/relationships/image" Target="../media/image95.png"/><Relationship Id="rId9" Type="http://schemas.openxmlformats.org/officeDocument/2006/relationships/oleObject" Target="../embeddings/oleObject5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113.wmf"/><Relationship Id="rId26" Type="http://schemas.openxmlformats.org/officeDocument/2006/relationships/oleObject" Target="../embeddings/oleObject57.bin"/><Relationship Id="rId3" Type="http://schemas.openxmlformats.org/officeDocument/2006/relationships/image" Target="../media/image105.png"/><Relationship Id="rId21" Type="http://schemas.openxmlformats.org/officeDocument/2006/relationships/image" Target="../media/image9.png"/><Relationship Id="rId7" Type="http://schemas.openxmlformats.org/officeDocument/2006/relationships/image" Target="../media/image107.wmf"/><Relationship Id="rId12" Type="http://schemas.openxmlformats.org/officeDocument/2006/relationships/image" Target="../media/image110.png"/><Relationship Id="rId17" Type="http://schemas.openxmlformats.org/officeDocument/2006/relationships/oleObject" Target="../embeddings/oleObject69.bin"/><Relationship Id="rId25" Type="http://schemas.openxmlformats.org/officeDocument/2006/relationships/image" Target="../media/image98.wmf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2.wmf"/><Relationship Id="rId20" Type="http://schemas.openxmlformats.org/officeDocument/2006/relationships/image" Target="../media/image115.png"/><Relationship Id="rId29" Type="http://schemas.openxmlformats.org/officeDocument/2006/relationships/image" Target="../media/image11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109.wmf"/><Relationship Id="rId24" Type="http://schemas.openxmlformats.org/officeDocument/2006/relationships/oleObject" Target="../embeddings/oleObject56.bin"/><Relationship Id="rId5" Type="http://schemas.openxmlformats.org/officeDocument/2006/relationships/image" Target="../media/image106.wmf"/><Relationship Id="rId15" Type="http://schemas.openxmlformats.org/officeDocument/2006/relationships/oleObject" Target="../embeddings/oleObject68.bin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71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114.png"/><Relationship Id="rId4" Type="http://schemas.openxmlformats.org/officeDocument/2006/relationships/oleObject" Target="../embeddings/oleObject63.bin"/><Relationship Id="rId9" Type="http://schemas.openxmlformats.org/officeDocument/2006/relationships/image" Target="../media/image108.wmf"/><Relationship Id="rId14" Type="http://schemas.openxmlformats.org/officeDocument/2006/relationships/image" Target="../media/image111.wmf"/><Relationship Id="rId22" Type="http://schemas.openxmlformats.org/officeDocument/2006/relationships/oleObject" Target="../embeddings/oleObject70.bin"/><Relationship Id="rId27" Type="http://schemas.openxmlformats.org/officeDocument/2006/relationships/image" Target="../media/image9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119.wmf"/><Relationship Id="rId3" Type="http://schemas.openxmlformats.org/officeDocument/2006/relationships/image" Target="../media/image118.png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7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10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124.emf"/><Relationship Id="rId4" Type="http://schemas.openxmlformats.org/officeDocument/2006/relationships/image" Target="../media/image121.png"/><Relationship Id="rId9" Type="http://schemas.openxmlformats.org/officeDocument/2006/relationships/oleObject" Target="../embeddings/oleObject5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0.emf"/><Relationship Id="rId3" Type="http://schemas.openxmlformats.org/officeDocument/2006/relationships/oleObject" Target="../embeddings/oleObject74.bin"/><Relationship Id="rId7" Type="http://schemas.openxmlformats.org/officeDocument/2006/relationships/image" Target="../media/image41.png"/><Relationship Id="rId12" Type="http://schemas.openxmlformats.org/officeDocument/2006/relationships/oleObject" Target="../embeddings/oleObject5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29.wmf"/><Relationship Id="rId5" Type="http://schemas.openxmlformats.org/officeDocument/2006/relationships/image" Target="../media/image9.png"/><Relationship Id="rId10" Type="http://schemas.openxmlformats.org/officeDocument/2006/relationships/oleObject" Target="../embeddings/oleObject75.bin"/><Relationship Id="rId4" Type="http://schemas.openxmlformats.org/officeDocument/2006/relationships/image" Target="../media/image125.wmf"/><Relationship Id="rId9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5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41.png"/><Relationship Id="rId4" Type="http://schemas.openxmlformats.org/officeDocument/2006/relationships/image" Target="../media/image1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eliba@sce.ac.i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64717-B6EC-41B8-8EAB-14D0E49BA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4" y="-9940"/>
            <a:ext cx="1474214" cy="1479694"/>
          </a:xfrm>
          <a:prstGeom prst="rect">
            <a:avLst/>
          </a:prstGeom>
        </p:spPr>
      </p:pic>
      <p:sp>
        <p:nvSpPr>
          <p:cNvPr id="16" name="Text Box 8">
            <a:extLst>
              <a:ext uri="{FF2B5EF4-FFF2-40B4-BE49-F238E27FC236}">
                <a16:creationId xmlns:a16="http://schemas.microsoft.com/office/drawing/2014/main" id="{7892D74D-1E44-4C44-AF43-D6530087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416" y="4905857"/>
            <a:ext cx="41770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Georgia" panose="02040502050405020303" pitchFamily="18" charset="0"/>
                <a:cs typeface="David" panose="020E0502060401010101" pitchFamily="34" charset="-79"/>
              </a:rPr>
              <a:t>Dr. Eli Barbie</a:t>
            </a:r>
          </a:p>
          <a:p>
            <a:pPr algn="ctr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 dirty="0" err="1">
                <a:latin typeface="Georgia" panose="02040502050405020303" pitchFamily="18" charset="0"/>
                <a:cs typeface="David" panose="020E0502060401010101" pitchFamily="34" charset="-79"/>
              </a:rPr>
              <a:t>Shamoon</a:t>
            </a:r>
            <a:r>
              <a:rPr lang="en-US" altLang="en-US" sz="2000" dirty="0">
                <a:latin typeface="Georgia" panose="02040502050405020303" pitchFamily="18" charset="0"/>
                <a:cs typeface="David" panose="020E0502060401010101" pitchFamily="34" charset="-79"/>
              </a:rPr>
              <a:t> College of 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F8AFAD-C240-45CC-9272-4127C089D468}"/>
              </a:ext>
            </a:extLst>
          </p:cNvPr>
          <p:cNvSpPr/>
          <p:nvPr/>
        </p:nvSpPr>
        <p:spPr>
          <a:xfrm>
            <a:off x="687517" y="1268876"/>
            <a:ext cx="10656171" cy="2218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Time Division Multiplexing based Direct Current Control of a Series-End-Winding Permanent Magnet Synchronous Motor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18F771-FF2A-4C04-85F6-36E8AEB48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4" y="5184667"/>
            <a:ext cx="1760922" cy="1235859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52D101D8-A59C-4C4D-A561-43BF72297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921" y="5709742"/>
            <a:ext cx="492199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Georgia" panose="02040502050405020303" pitchFamily="18" charset="0"/>
                <a:cs typeface="David" panose="020E0502060401010101" pitchFamily="34" charset="-79"/>
              </a:rPr>
              <a:t>Dr. Dimitry </a:t>
            </a:r>
            <a:r>
              <a:rPr lang="en-US" altLang="en-US" sz="2000" b="1" dirty="0" err="1">
                <a:latin typeface="Georgia" panose="02040502050405020303" pitchFamily="18" charset="0"/>
                <a:cs typeface="David" panose="020E0502060401010101" pitchFamily="34" charset="-79"/>
              </a:rPr>
              <a:t>Baimel</a:t>
            </a:r>
            <a:endParaRPr lang="en-US" altLang="en-US" sz="2000" b="1" dirty="0">
              <a:latin typeface="Georgia" panose="02040502050405020303" pitchFamily="18" charset="0"/>
              <a:cs typeface="David" panose="020E0502060401010101" pitchFamily="34" charset="-79"/>
            </a:endParaRPr>
          </a:p>
          <a:p>
            <a:pPr algn="ctr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 dirty="0" err="1">
                <a:latin typeface="Georgia" panose="02040502050405020303" pitchFamily="18" charset="0"/>
                <a:cs typeface="David" panose="020E0502060401010101" pitchFamily="34" charset="-79"/>
              </a:rPr>
              <a:t>Shamoon</a:t>
            </a:r>
            <a:r>
              <a:rPr lang="en-US" altLang="en-US" sz="2000" dirty="0">
                <a:latin typeface="Georgia" panose="02040502050405020303" pitchFamily="18" charset="0"/>
                <a:cs typeface="David" panose="020E0502060401010101" pitchFamily="34" charset="-79"/>
              </a:rPr>
              <a:t> College of Engineering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567C42-8687-431D-8784-6434D2B4E637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DC7F22-695F-410C-B764-6961FD507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6902" y="5184666"/>
            <a:ext cx="1760922" cy="12358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4AB996-18B1-4AB7-AF1B-395D49BEA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786" y="0"/>
            <a:ext cx="1474214" cy="147969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F25ABCA-6B13-4FE5-A826-7F7A85BAF88E}"/>
              </a:ext>
            </a:extLst>
          </p:cNvPr>
          <p:cNvSpPr/>
          <p:nvPr/>
        </p:nvSpPr>
        <p:spPr>
          <a:xfrm>
            <a:off x="581192" y="3430926"/>
            <a:ext cx="10656171" cy="139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he-IL" sz="3000" b="1" dirty="0">
                <a:solidFill>
                  <a:srgbClr val="A9D24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בקרת זרם ישירה למנוע סינכרוני עם מגנט קבוע בחיבור </a:t>
            </a:r>
            <a:r>
              <a:rPr lang="en-US" sz="3000" b="1" dirty="0">
                <a:solidFill>
                  <a:srgbClr val="A9D24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Series-End</a:t>
            </a:r>
            <a:r>
              <a:rPr lang="he-IL" sz="3000" b="1" dirty="0">
                <a:solidFill>
                  <a:srgbClr val="A9D24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המבוססת על אלגוריתם </a:t>
            </a:r>
            <a:r>
              <a:rPr lang="he-IL" sz="3000" b="1" dirty="0" err="1">
                <a:solidFill>
                  <a:srgbClr val="A9D24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ריבוב</a:t>
            </a:r>
            <a:r>
              <a:rPr lang="he-IL" sz="3000" b="1" dirty="0">
                <a:solidFill>
                  <a:srgbClr val="A9D24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חלוקת זמן - </a:t>
            </a:r>
            <a:r>
              <a:rPr lang="en-US" sz="3000" b="1" dirty="0">
                <a:solidFill>
                  <a:srgbClr val="A9D24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TDM</a:t>
            </a:r>
          </a:p>
        </p:txBody>
      </p:sp>
    </p:spTree>
    <p:extLst>
      <p:ext uri="{BB962C8B-B14F-4D97-AF65-F5344CB8AC3E}">
        <p14:creationId xmlns:p14="http://schemas.microsoft.com/office/powerpoint/2010/main" val="218613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3A0910-F75C-FAFD-B88D-066B4885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57" y="3591670"/>
            <a:ext cx="2380144" cy="25280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BD85C5-ACEB-4986-8861-07EADC81187B}"/>
              </a:ext>
            </a:extLst>
          </p:cNvPr>
          <p:cNvSpPr txBox="1"/>
          <p:nvPr/>
        </p:nvSpPr>
        <p:spPr>
          <a:xfrm>
            <a:off x="150432" y="504202"/>
            <a:ext cx="2838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Pros :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1005840" y="-29984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Georgia" panose="02040502050405020303" pitchFamily="18" charset="0"/>
              </a:rPr>
              <a:t>Permanent Magnet Synchronous Motor (PMSM)</a:t>
            </a:r>
            <a:endParaRPr lang="en-IL" sz="3200" dirty="0">
              <a:latin typeface="Georgia" panose="020405020504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4FC7F3-1DD5-82B6-A782-0B52BC083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79" y="669584"/>
            <a:ext cx="3902303" cy="32689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339672-7C17-5BB3-992B-B05C85B9E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602" y="4027865"/>
            <a:ext cx="3739998" cy="2281018"/>
          </a:xfrm>
          <a:prstGeom prst="rect">
            <a:avLst/>
          </a:prstGeom>
        </p:spPr>
      </p:pic>
      <p:sp>
        <p:nvSpPr>
          <p:cNvPr id="14" name="Text Box 8">
            <a:extLst>
              <a:ext uri="{FF2B5EF4-FFF2-40B4-BE49-F238E27FC236}">
                <a16:creationId xmlns:a16="http://schemas.microsoft.com/office/drawing/2014/main" id="{85959CFC-4CC8-4832-B09D-ED3761302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32" y="931483"/>
            <a:ext cx="5945568" cy="232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Higher Efficiency (85% +, no rotor losses).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Accurate Speed/Position control.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Reduced Size and Weight (High Power Density).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Lower noise and heat generation (no slip rings).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 maintenance.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Can serve as a synchronous generator.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342A7B7-B43E-DDFA-08BD-B855FD4A09B2}"/>
                  </a:ext>
                </a:extLst>
              </p14:cNvPr>
              <p14:cNvContentPartPr/>
              <p14:nvPr/>
            </p14:nvContentPartPr>
            <p14:xfrm>
              <a:off x="8641573" y="5053890"/>
              <a:ext cx="1121831" cy="879078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342A7B7-B43E-DDFA-08BD-B855FD4A09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27163" y="5039479"/>
                <a:ext cx="1149931" cy="907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34E06D-5B80-A675-AFB1-91374B83420E}"/>
                  </a:ext>
                </a:extLst>
              </p14:cNvPr>
              <p14:cNvContentPartPr/>
              <p14:nvPr/>
            </p14:nvContentPartPr>
            <p14:xfrm>
              <a:off x="10679882" y="4786691"/>
              <a:ext cx="1121831" cy="87907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34E06D-5B80-A675-AFB1-91374B8342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65472" y="4772280"/>
                <a:ext cx="1149931" cy="907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E15001-BB7C-AF71-F654-59F94E87DEA4}"/>
                  </a:ext>
                </a:extLst>
              </p14:cNvPr>
              <p14:cNvContentPartPr/>
              <p14:nvPr/>
            </p14:nvContentPartPr>
            <p14:xfrm>
              <a:off x="11125093" y="2229472"/>
              <a:ext cx="823507" cy="64530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E15001-BB7C-AF71-F654-59F94E87DE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10683" y="2215060"/>
                <a:ext cx="851606" cy="673412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2">
            <a:extLst>
              <a:ext uri="{FF2B5EF4-FFF2-40B4-BE49-F238E27FC236}">
                <a16:creationId xmlns:a16="http://schemas.microsoft.com/office/drawing/2014/main" id="{1C037BBD-A37E-2607-DA93-D5F09F45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90" y="3591670"/>
            <a:ext cx="3486981" cy="271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8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79814D-9470-0448-7F51-C8F10BB9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91" y="1320604"/>
            <a:ext cx="3164014" cy="20303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FCD634-44EE-F93A-50AF-31EC40EC2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29" y="3733395"/>
            <a:ext cx="7428379" cy="27120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1005840" y="-29984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Georgia" panose="02040502050405020303" pitchFamily="18" charset="0"/>
              </a:rPr>
              <a:t>Permanent Magnet Synchronous Motor (PMSM)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B8DD-1883-D1D1-9AEC-A1C2F5C7B009}"/>
              </a:ext>
            </a:extLst>
          </p:cNvPr>
          <p:cNvSpPr txBox="1"/>
          <p:nvPr/>
        </p:nvSpPr>
        <p:spPr>
          <a:xfrm>
            <a:off x="111417" y="506382"/>
            <a:ext cx="2838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Cons :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D9BFE3A8-4364-556A-457F-0C6D1AC9F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17" y="901527"/>
            <a:ext cx="5921635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Expensive (rare-earth magnets).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Back EMF harmonics and zero-sequence currents.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Open-Winding operation required for optimal power density.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Complex Control algorithms (DTC or FOC required).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2000" b="1" dirty="0">
              <a:latin typeface="+mn-lt"/>
              <a:cs typeface="David" panose="020E0502060401010101" pitchFamily="34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9AC9D6-2BFA-0A4E-0D60-7C17080054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635" y="3921967"/>
            <a:ext cx="3990343" cy="23942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E47B9E-C6B0-381B-6F89-97F0A478EA63}"/>
              </a:ext>
            </a:extLst>
          </p:cNvPr>
          <p:cNvSpPr txBox="1"/>
          <p:nvPr/>
        </p:nvSpPr>
        <p:spPr>
          <a:xfrm>
            <a:off x="5785069" y="495066"/>
            <a:ext cx="235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Salient Pole (surface mount magnets)</a:t>
            </a:r>
            <a:endParaRPr lang="en-IL" b="1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4B19B8-0707-7127-231E-5E7B18999BB3}"/>
              </a:ext>
            </a:extLst>
          </p:cNvPr>
          <p:cNvSpPr txBox="1"/>
          <p:nvPr/>
        </p:nvSpPr>
        <p:spPr>
          <a:xfrm>
            <a:off x="8025635" y="3648463"/>
            <a:ext cx="339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Typical Back-EMF and CM Voltage</a:t>
            </a:r>
            <a:endParaRPr lang="en-IL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09BC8-C0EC-46D4-65E7-3F6176B7C7D5}"/>
              </a:ext>
            </a:extLst>
          </p:cNvPr>
          <p:cNvSpPr txBox="1"/>
          <p:nvPr/>
        </p:nvSpPr>
        <p:spPr>
          <a:xfrm>
            <a:off x="133256" y="3166305"/>
            <a:ext cx="339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 Block Diagram (FOC)</a:t>
            </a:r>
            <a:endParaRPr lang="en-IL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95B87-38AB-C305-F6CD-D0FE99B546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691" y="1143586"/>
            <a:ext cx="2151662" cy="2285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2BE41C-BD23-2D11-8909-9BFB89BC21D9}"/>
              </a:ext>
            </a:extLst>
          </p:cNvPr>
          <p:cNvSpPr txBox="1"/>
          <p:nvPr/>
        </p:nvSpPr>
        <p:spPr>
          <a:xfrm>
            <a:off x="8403473" y="614532"/>
            <a:ext cx="3677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Stator equivalent model (3</a:t>
            </a:r>
            <a:r>
              <a:rPr lang="en-US" b="1" baseline="30000" dirty="0">
                <a:solidFill>
                  <a:srgbClr val="0070C0"/>
                </a:solidFill>
              </a:rPr>
              <a:t>rd</a:t>
            </a:r>
            <a:r>
              <a:rPr lang="en-US" b="1" dirty="0">
                <a:solidFill>
                  <a:srgbClr val="0070C0"/>
                </a:solidFill>
              </a:rPr>
              <a:t> harmonic CMV)</a:t>
            </a:r>
            <a:endParaRPr lang="en-IL" b="1" dirty="0">
              <a:solidFill>
                <a:srgbClr val="0070C0"/>
              </a:solidFill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93C695C-4EDE-0BD4-0133-5552BF0D2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856609"/>
              </p:ext>
            </p:extLst>
          </p:nvPr>
        </p:nvGraphicFramePr>
        <p:xfrm>
          <a:off x="3606304" y="2748071"/>
          <a:ext cx="2426748" cy="916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4520" imgH="469800" progId="Equation.DSMT4">
                  <p:embed/>
                </p:oleObj>
              </mc:Choice>
              <mc:Fallback>
                <p:oleObj name="Equation" r:id="rId7" imgW="12445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6304" y="2748071"/>
                        <a:ext cx="2426748" cy="916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391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901DAA-C8E6-CB75-95C6-26BDDB29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62" y="627031"/>
            <a:ext cx="5615951" cy="245974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790474" y="-39375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PMSM Drives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B8DD-1883-D1D1-9AEC-A1C2F5C7B009}"/>
              </a:ext>
            </a:extLst>
          </p:cNvPr>
          <p:cNvSpPr txBox="1"/>
          <p:nvPr/>
        </p:nvSpPr>
        <p:spPr>
          <a:xfrm>
            <a:off x="250825" y="526726"/>
            <a:ext cx="451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PMSM Drive System’s Objectives :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D9BFE3A8-4364-556A-457F-0C6D1AC9F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16702"/>
            <a:ext cx="7955417" cy="232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Cost Effective.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Optimal DC Source Utilization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High Efficiency.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 Current THD.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 Torque Ripple.</a:t>
            </a: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rgbClr val="FF0000"/>
                </a:solidFill>
                <a:latin typeface="+mn-lt"/>
                <a:cs typeface="David" panose="020E0502060401010101" pitchFamily="34" charset="-79"/>
              </a:rPr>
              <a:t>Zero Sequence Current Suppression.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B03079-0E9C-E69E-26BE-8FD6A2148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744" y="3628989"/>
            <a:ext cx="3496556" cy="24369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D9AC50-6EE8-167B-03FD-600B7F0D2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25" y="3678387"/>
            <a:ext cx="3617411" cy="24369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C4E68A0-990C-0D99-9BED-672C832D40D5}"/>
              </a:ext>
            </a:extLst>
          </p:cNvPr>
          <p:cNvSpPr txBox="1"/>
          <p:nvPr/>
        </p:nvSpPr>
        <p:spPr>
          <a:xfrm>
            <a:off x="6747284" y="3223805"/>
            <a:ext cx="3496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3-Leg VSI + Star-connected PMSM</a:t>
            </a:r>
            <a:endParaRPr lang="en-IL" b="1" dirty="0">
              <a:solidFill>
                <a:srgbClr val="0070C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2FBE29-228C-399B-653D-2D7F4C3CD14E}"/>
              </a:ext>
            </a:extLst>
          </p:cNvPr>
          <p:cNvGrpSpPr/>
          <p:nvPr/>
        </p:nvGrpSpPr>
        <p:grpSpPr>
          <a:xfrm>
            <a:off x="10276766" y="4081542"/>
            <a:ext cx="1355043" cy="1409150"/>
            <a:chOff x="10276766" y="4081542"/>
            <a:chExt cx="1355043" cy="14091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5DF961-7898-22DF-5A1E-52BEA26CC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38000" y="4494663"/>
              <a:ext cx="893809" cy="925731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3103B69-527A-121F-449D-BF4E5EE23BD7}"/>
                </a:ext>
              </a:extLst>
            </p:cNvPr>
            <p:cNvGrpSpPr/>
            <p:nvPr/>
          </p:nvGrpSpPr>
          <p:grpSpPr>
            <a:xfrm>
              <a:off x="10276766" y="4707926"/>
              <a:ext cx="356483" cy="782766"/>
              <a:chOff x="8248680" y="4854303"/>
              <a:chExt cx="418728" cy="91575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608F083-9401-5824-0E63-60D4C36D83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48680" y="4854303"/>
                <a:ext cx="258694" cy="132940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F232D40-D946-673E-26B9-A8F64EB9FF3C}"/>
                  </a:ext>
                </a:extLst>
              </p:cNvPr>
              <p:cNvGrpSpPr/>
              <p:nvPr/>
            </p:nvGrpSpPr>
            <p:grpSpPr>
              <a:xfrm>
                <a:off x="8347340" y="4920773"/>
                <a:ext cx="320068" cy="849283"/>
                <a:chOff x="8347340" y="4920773"/>
                <a:chExt cx="320068" cy="849283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DF4D6CB9-6227-ED6B-5823-D818775EAC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76199" y="5603881"/>
                  <a:ext cx="71536" cy="13294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92559A86-BB40-CA6C-696B-E183FBD489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16200000">
                  <a:off x="8149203" y="5118910"/>
                  <a:ext cx="716342" cy="320068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46B54E2-9C6E-120D-E4AF-97E6EB8D57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3950" y="5570646"/>
                  <a:ext cx="146848" cy="132940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A9DFAC3A-65CD-9CE9-99F4-E8662AEFE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88324" y="5637116"/>
                  <a:ext cx="45719" cy="132940"/>
                </a:xfrm>
                <a:prstGeom prst="rect">
                  <a:avLst/>
                </a:prstGeom>
              </p:spPr>
            </p:pic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134C9B7-A685-D982-F388-80923B9929DA}"/>
                    </a:ext>
                  </a:extLst>
                </p14:cNvPr>
                <p14:cNvContentPartPr/>
                <p14:nvPr/>
              </p14:nvContentPartPr>
              <p14:xfrm>
                <a:off x="10415220" y="4681220"/>
                <a:ext cx="248400" cy="231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134C9B7-A685-D982-F388-80923B9929D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09100" y="4675100"/>
                  <a:ext cx="260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4D7DE6-5C04-CF71-68D8-42A0513E524D}"/>
                    </a:ext>
                  </a:extLst>
                </p14:cNvPr>
                <p14:cNvContentPartPr/>
                <p14:nvPr/>
              </p14:nvContentPartPr>
              <p14:xfrm>
                <a:off x="10599180" y="4831700"/>
                <a:ext cx="135000" cy="106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4D7DE6-5C04-CF71-68D8-42A0513E524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93044" y="4825580"/>
                  <a:ext cx="147273" cy="118440"/>
                </a:xfrm>
                <a:prstGeom prst="rect">
                  <a:avLst/>
                </a:prstGeom>
              </p:spPr>
            </p:pic>
          </mc:Fallback>
        </mc:AlternateContent>
        <p:graphicFrame>
          <p:nvGraphicFramePr>
            <p:cNvPr id="37" name="Object 36">
              <a:extLst>
                <a:ext uri="{FF2B5EF4-FFF2-40B4-BE49-F238E27FC236}">
                  <a16:creationId xmlns:a16="http://schemas.microsoft.com/office/drawing/2014/main" id="{A487E798-77C8-27A7-78AC-51AA7862AC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761680"/>
                </p:ext>
              </p:extLst>
            </p:nvPr>
          </p:nvGraphicFramePr>
          <p:xfrm>
            <a:off x="10415220" y="4081542"/>
            <a:ext cx="347990" cy="626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228600" progId="Equation.DSMT4">
                    <p:embed/>
                  </p:oleObj>
                </mc:Choice>
                <mc:Fallback>
                  <p:oleObj name="Equation" r:id="rId13" imgW="1267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415220" y="4081542"/>
                          <a:ext cx="347990" cy="6263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5BA23CD-F9B9-7DDE-3856-BE410E8B0455}"/>
              </a:ext>
            </a:extLst>
          </p:cNvPr>
          <p:cNvSpPr txBox="1"/>
          <p:nvPr/>
        </p:nvSpPr>
        <p:spPr>
          <a:xfrm>
            <a:off x="261736" y="3301553"/>
            <a:ext cx="468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3-Leg VSI + Delta-connected PMSM</a:t>
            </a:r>
            <a:endParaRPr lang="en-IL" b="1" dirty="0">
              <a:solidFill>
                <a:srgbClr val="0070C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F01BBD-E243-4317-06DA-C69E67369765}"/>
              </a:ext>
            </a:extLst>
          </p:cNvPr>
          <p:cNvGrpSpPr/>
          <p:nvPr/>
        </p:nvGrpSpPr>
        <p:grpSpPr>
          <a:xfrm>
            <a:off x="2946795" y="4596263"/>
            <a:ext cx="796149" cy="593239"/>
            <a:chOff x="2946795" y="4596263"/>
            <a:chExt cx="796149" cy="59323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4221114-4716-4762-22D7-8006A4159D78}"/>
                </a:ext>
              </a:extLst>
            </p:cNvPr>
            <p:cNvGrpSpPr/>
            <p:nvPr/>
          </p:nvGrpSpPr>
          <p:grpSpPr>
            <a:xfrm>
              <a:off x="2946795" y="4596263"/>
              <a:ext cx="796149" cy="593239"/>
              <a:chOff x="3047952" y="4712280"/>
              <a:chExt cx="573480" cy="427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263080E0-334E-FE0F-44F8-B6DE64CAB6DC}"/>
                      </a:ext>
                    </a:extLst>
                  </p14:cNvPr>
                  <p14:cNvContentPartPr/>
                  <p14:nvPr/>
                </p14:nvContentPartPr>
                <p14:xfrm>
                  <a:off x="3047952" y="4712280"/>
                  <a:ext cx="573480" cy="42732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263080E0-334E-FE0F-44F8-B6DE64CAB6DC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043543" y="4707869"/>
                    <a:ext cx="582299" cy="4361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5A07D43C-2633-B2E3-CF74-A7A38CA405B6}"/>
                      </a:ext>
                    </a:extLst>
                  </p14:cNvPr>
                  <p14:cNvContentPartPr/>
                  <p14:nvPr/>
                </p14:nvContentPartPr>
                <p14:xfrm>
                  <a:off x="3437832" y="5010720"/>
                  <a:ext cx="42840" cy="2484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5A07D43C-2633-B2E3-CF74-A7A38CA405B6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433391" y="5006321"/>
                    <a:ext cx="51721" cy="3363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aphicFrame>
          <p:nvGraphicFramePr>
            <p:cNvPr id="44" name="Object 43">
              <a:extLst>
                <a:ext uri="{FF2B5EF4-FFF2-40B4-BE49-F238E27FC236}">
                  <a16:creationId xmlns:a16="http://schemas.microsoft.com/office/drawing/2014/main" id="{9682EA22-C67E-A578-38D4-D6259AA74E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9617869"/>
                </p:ext>
              </p:extLst>
            </p:nvPr>
          </p:nvGraphicFramePr>
          <p:xfrm>
            <a:off x="3221338" y="4626245"/>
            <a:ext cx="404813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15640" imgH="228600" progId="Equation.DSMT4">
                    <p:embed/>
                  </p:oleObj>
                </mc:Choice>
                <mc:Fallback>
                  <p:oleObj name="Equation" r:id="rId19" imgW="215640" imgH="228600" progId="Equation.DSMT4">
                    <p:embed/>
                    <p:pic>
                      <p:nvPicPr>
                        <p:cNvPr id="37" name="Object 36">
                          <a:extLst>
                            <a:ext uri="{FF2B5EF4-FFF2-40B4-BE49-F238E27FC236}">
                              <a16:creationId xmlns:a16="http://schemas.microsoft.com/office/drawing/2014/main" id="{A487E798-77C8-27A7-78AC-51AA7862AC8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21338" y="4626245"/>
                          <a:ext cx="404813" cy="4286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74DC7A23-9911-1DE2-6995-EDE81DE27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374895"/>
              </p:ext>
            </p:extLst>
          </p:nvPr>
        </p:nvGraphicFramePr>
        <p:xfrm>
          <a:off x="4859505" y="3607745"/>
          <a:ext cx="2008020" cy="688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457200" progId="Equation.DSMT4">
                  <p:embed/>
                </p:oleObj>
              </mc:Choice>
              <mc:Fallback>
                <p:oleObj name="Equation" r:id="rId21" imgW="13334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59505" y="3607745"/>
                        <a:ext cx="2008020" cy="688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AE5D2F1F-D4FE-1711-4B5B-B50C9F7CC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684287"/>
              </p:ext>
            </p:extLst>
          </p:nvPr>
        </p:nvGraphicFramePr>
        <p:xfrm>
          <a:off x="7096236" y="4619131"/>
          <a:ext cx="379867" cy="42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3040" imgH="228600" progId="Equation.DSMT4">
                  <p:embed/>
                </p:oleObj>
              </mc:Choice>
              <mc:Fallback>
                <p:oleObj name="Equation" r:id="rId23" imgW="203040" imgH="22860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74DC7A23-9911-1DE2-6995-EDE81DE2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96236" y="4619131"/>
                        <a:ext cx="379867" cy="42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3FE0421F-79B8-1724-37C1-6603C506D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387946"/>
              </p:ext>
            </p:extLst>
          </p:nvPr>
        </p:nvGraphicFramePr>
        <p:xfrm>
          <a:off x="560191" y="4646986"/>
          <a:ext cx="379867" cy="42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3040" imgH="228600" progId="Equation.DSMT4">
                  <p:embed/>
                </p:oleObj>
              </mc:Choice>
              <mc:Fallback>
                <p:oleObj name="Equation" r:id="rId25" imgW="203040" imgH="22860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AE5D2F1F-D4FE-1711-4B5B-B50C9F7CCD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0191" y="4646986"/>
                        <a:ext cx="379867" cy="42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E7EC2222-EBC3-ED34-4538-F3F88DB3E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078261"/>
              </p:ext>
            </p:extLst>
          </p:nvPr>
        </p:nvGraphicFramePr>
        <p:xfrm>
          <a:off x="9766065" y="4148988"/>
          <a:ext cx="3254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5640" imgH="241200" progId="Equation.DSMT4">
                  <p:embed/>
                </p:oleObj>
              </mc:Choice>
              <mc:Fallback>
                <p:oleObj name="Equation" r:id="rId27" imgW="215640" imgH="24120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74DC7A23-9911-1DE2-6995-EDE81DE2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766065" y="4148988"/>
                        <a:ext cx="325438" cy="36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420907D1-ACE4-1D4B-4C43-D494FA263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756002"/>
              </p:ext>
            </p:extLst>
          </p:nvPr>
        </p:nvGraphicFramePr>
        <p:xfrm>
          <a:off x="2946795" y="4235540"/>
          <a:ext cx="3254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15640" imgH="241200" progId="Equation.DSMT4">
                  <p:embed/>
                </p:oleObj>
              </mc:Choice>
              <mc:Fallback>
                <p:oleObj name="Equation" r:id="rId29" imgW="215640" imgH="24120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E7EC2222-EBC3-ED34-4538-F3F88DB3E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946795" y="4235540"/>
                        <a:ext cx="325438" cy="36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2F421E51-70A3-9787-06F5-61DD75B46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779875"/>
              </p:ext>
            </p:extLst>
          </p:nvPr>
        </p:nvGraphicFramePr>
        <p:xfrm>
          <a:off x="5834782" y="4425211"/>
          <a:ext cx="9937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660240" imgH="279360" progId="Equation.DSMT4">
                  <p:embed/>
                </p:oleObj>
              </mc:Choice>
              <mc:Fallback>
                <p:oleObj name="Equation" r:id="rId31" imgW="660240" imgH="27936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74DC7A23-9911-1DE2-6995-EDE81DE2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834782" y="4425211"/>
                        <a:ext cx="9937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24C7F795-7831-0DEB-A85E-692ABACCF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500335"/>
              </p:ext>
            </p:extLst>
          </p:nvPr>
        </p:nvGraphicFramePr>
        <p:xfrm>
          <a:off x="3900360" y="4869275"/>
          <a:ext cx="11080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36560" imgH="279360" progId="Equation.DSMT4">
                  <p:embed/>
                </p:oleObj>
              </mc:Choice>
              <mc:Fallback>
                <p:oleObj name="Equation" r:id="rId33" imgW="736560" imgH="27936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2F421E51-70A3-9787-06F5-61DD75B467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900360" y="4869275"/>
                        <a:ext cx="11080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5AEC0A7B-F97E-961E-9917-3CDA79FC9B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247388"/>
              </p:ext>
            </p:extLst>
          </p:nvPr>
        </p:nvGraphicFramePr>
        <p:xfrm>
          <a:off x="3926696" y="5362926"/>
          <a:ext cx="19700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07880" imgH="380880" progId="Equation.DSMT4">
                  <p:embed/>
                </p:oleObj>
              </mc:Choice>
              <mc:Fallback>
                <p:oleObj name="Equation" r:id="rId35" imgW="1307880" imgH="38088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74DC7A23-9911-1DE2-6995-EDE81DE2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926696" y="5362926"/>
                        <a:ext cx="1970088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8">
            <a:extLst>
              <a:ext uri="{FF2B5EF4-FFF2-40B4-BE49-F238E27FC236}">
                <a16:creationId xmlns:a16="http://schemas.microsoft.com/office/drawing/2014/main" id="{7F3500F3-BEB1-6348-8016-7E886A0F7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01" y="6034410"/>
            <a:ext cx="370799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rgbClr val="FF0000"/>
                </a:solidFill>
                <a:latin typeface="+mn-lt"/>
                <a:cs typeface="David" panose="020E0502060401010101" pitchFamily="34" charset="-79"/>
              </a:rPr>
              <a:t>ZSC Mitigation NOT feasible</a:t>
            </a:r>
          </a:p>
        </p:txBody>
      </p:sp>
      <p:sp>
        <p:nvSpPr>
          <p:cNvPr id="54" name="Text Box 8">
            <a:extLst>
              <a:ext uri="{FF2B5EF4-FFF2-40B4-BE49-F238E27FC236}">
                <a16:creationId xmlns:a16="http://schemas.microsoft.com/office/drawing/2014/main" id="{C69C8C8D-735B-4E6A-D325-310978C09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72" y="5975473"/>
            <a:ext cx="410743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rgbClr val="FF0000"/>
                </a:solidFill>
                <a:latin typeface="+mn-lt"/>
                <a:cs typeface="David" panose="020E0502060401010101" pitchFamily="34" charset="-79"/>
              </a:rPr>
              <a:t>Full DCS Utilization NOT feasible</a:t>
            </a:r>
          </a:p>
        </p:txBody>
      </p:sp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BAB03B11-3A69-0B3C-2741-19DD96E163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362111"/>
              </p:ext>
            </p:extLst>
          </p:nvPr>
        </p:nvGraphicFramePr>
        <p:xfrm>
          <a:off x="4369175" y="917458"/>
          <a:ext cx="3292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536480" imgH="469800" progId="Equation.DSMT4">
                  <p:embed/>
                </p:oleObj>
              </mc:Choice>
              <mc:Fallback>
                <p:oleObj name="Equation" r:id="rId37" imgW="1536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369175" y="917458"/>
                        <a:ext cx="3292475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797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781397" y="-33350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PMSM Drives: Open-Winding VSI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B8DD-1883-D1D1-9AEC-A1C2F5C7B009}"/>
              </a:ext>
            </a:extLst>
          </p:cNvPr>
          <p:cNvSpPr txBox="1"/>
          <p:nvPr/>
        </p:nvSpPr>
        <p:spPr>
          <a:xfrm>
            <a:off x="250825" y="608855"/>
            <a:ext cx="451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6-Leg VSI + Open-Winding PMSM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6F3DD-E578-5361-EB77-6C1FAFF6E8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54" b="54577"/>
          <a:stretch/>
        </p:blipFill>
        <p:spPr>
          <a:xfrm>
            <a:off x="5824275" y="717767"/>
            <a:ext cx="5752995" cy="2922525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1D4EF787-32A3-DC0E-0218-6EC27926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" y="1137530"/>
            <a:ext cx="5752995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Optimal DC Source Utilization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 Current THD.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 Torque Ripple.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rgbClr val="FF0000"/>
                </a:solidFill>
                <a:latin typeface="+mn-lt"/>
                <a:cs typeface="David" panose="020E0502060401010101" pitchFamily="34" charset="-79"/>
              </a:rPr>
              <a:t>Expensive (6 legs vs 3)</a:t>
            </a:r>
          </a:p>
          <a:p>
            <a:pPr algn="l" rtl="0">
              <a:spcBef>
                <a:spcPct val="0"/>
              </a:spcBef>
              <a:buClrTx/>
              <a:buSzTx/>
              <a:buNone/>
            </a:pPr>
            <a:endParaRPr lang="en-US" altLang="en-US" sz="500" b="1" dirty="0">
              <a:solidFill>
                <a:srgbClr val="FF0000"/>
              </a:solidFill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rgbClr val="FF0000"/>
                </a:solidFill>
                <a:latin typeface="+mn-lt"/>
                <a:cs typeface="David" panose="020E0502060401010101" pitchFamily="34" charset="-79"/>
              </a:rPr>
              <a:t>Inadequate Zero Sequence Current Suppression.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ED044E9-1722-CC8B-99E3-DDFB4F0EA9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878107"/>
              </p:ext>
            </p:extLst>
          </p:nvPr>
        </p:nvGraphicFramePr>
        <p:xfrm>
          <a:off x="6269462" y="1933472"/>
          <a:ext cx="381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1064" imgH="425409" progId="Equation.DSMT4">
                  <p:embed/>
                </p:oleObj>
              </mc:Choice>
              <mc:Fallback>
                <p:oleObj name="Equation" r:id="rId4" imgW="381064" imgH="4254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69462" y="1933472"/>
                        <a:ext cx="381000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85EFAC3-0B73-5F07-6D6F-23D206B67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762562"/>
              </p:ext>
            </p:extLst>
          </p:nvPr>
        </p:nvGraphicFramePr>
        <p:xfrm>
          <a:off x="6717923" y="3397250"/>
          <a:ext cx="350838" cy="48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28600" progId="Equation.DSMT4">
                  <p:embed/>
                </p:oleObj>
              </mc:Choice>
              <mc:Fallback>
                <p:oleObj name="Equation" r:id="rId6" imgW="164880" imgH="2286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ED044E9-1722-CC8B-99E3-DDFB4F0EA9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17923" y="3397250"/>
                        <a:ext cx="350838" cy="485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F9DEC4F1-6D41-D378-B31D-670F8E2AC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250905"/>
              </p:ext>
            </p:extLst>
          </p:nvPr>
        </p:nvGraphicFramePr>
        <p:xfrm>
          <a:off x="11055825" y="3422702"/>
          <a:ext cx="4048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28600" progId="Equation.DSMT4">
                  <p:embed/>
                </p:oleObj>
              </mc:Choice>
              <mc:Fallback>
                <p:oleObj name="Equation" r:id="rId8" imgW="190440" imgH="2286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85EFAC3-0B73-5F07-6D6F-23D206B67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055825" y="3422702"/>
                        <a:ext cx="404813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52E6312-735D-1ABD-06F9-723829B6A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852003"/>
              </p:ext>
            </p:extLst>
          </p:nvPr>
        </p:nvGraphicFramePr>
        <p:xfrm>
          <a:off x="7494903" y="3428867"/>
          <a:ext cx="350838" cy="48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28600" progId="Equation.DSMT4">
                  <p:embed/>
                </p:oleObj>
              </mc:Choice>
              <mc:Fallback>
                <p:oleObj name="Equation" r:id="rId10" imgW="164880" imgH="2286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85EFAC3-0B73-5F07-6D6F-23D206B67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94903" y="3428867"/>
                        <a:ext cx="350838" cy="485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488551DB-63F7-449D-6EA1-7122FA57A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211812"/>
              </p:ext>
            </p:extLst>
          </p:nvPr>
        </p:nvGraphicFramePr>
        <p:xfrm>
          <a:off x="10364575" y="3406972"/>
          <a:ext cx="4048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52E6312-735D-1ABD-06F9-723829B6A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364575" y="3406972"/>
                        <a:ext cx="40481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F0DA1EB8-9D92-CF32-BB20-9E6D344A5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135385"/>
              </p:ext>
            </p:extLst>
          </p:nvPr>
        </p:nvGraphicFramePr>
        <p:xfrm>
          <a:off x="8226425" y="3429318"/>
          <a:ext cx="3778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52E6312-735D-1ABD-06F9-723829B6A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226425" y="3429318"/>
                        <a:ext cx="37782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0C730767-C2D1-52D4-5DBF-C9DBE1682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999526"/>
              </p:ext>
            </p:extLst>
          </p:nvPr>
        </p:nvGraphicFramePr>
        <p:xfrm>
          <a:off x="9593263" y="3397250"/>
          <a:ext cx="4048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440" imgH="228600" progId="Equation.DSMT4">
                  <p:embed/>
                </p:oleObj>
              </mc:Choice>
              <mc:Fallback>
                <p:oleObj name="Equation" r:id="rId16" imgW="190440" imgH="2286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F0DA1EB8-9D92-CF32-BB20-9E6D344A5D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593263" y="3397250"/>
                        <a:ext cx="40481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1D29240C-2741-89FD-0ECE-C8BF48F17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156168"/>
              </p:ext>
            </p:extLst>
          </p:nvPr>
        </p:nvGraphicFramePr>
        <p:xfrm>
          <a:off x="1984592" y="4009385"/>
          <a:ext cx="3054418" cy="1228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68200" imgH="469800" progId="Equation.DSMT4">
                  <p:embed/>
                </p:oleObj>
              </mc:Choice>
              <mc:Fallback>
                <p:oleObj name="Equation" r:id="rId18" imgW="11682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84592" y="4009385"/>
                        <a:ext cx="3054418" cy="1228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B7A7AB0-599F-C12A-6EE9-15D2E829E19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68761" y="4009385"/>
            <a:ext cx="3395766" cy="22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31AC246F-E508-239C-21B6-AE8ADD2A6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7" y="3258096"/>
            <a:ext cx="6750889" cy="28882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1005840" y="-29984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PMSM Drives: Series-End VSI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B8DD-1883-D1D1-9AEC-A1C2F5C7B009}"/>
              </a:ext>
            </a:extLst>
          </p:cNvPr>
          <p:cNvSpPr txBox="1"/>
          <p:nvPr/>
        </p:nvSpPr>
        <p:spPr>
          <a:xfrm>
            <a:off x="250824" y="608855"/>
            <a:ext cx="567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4-Leg VSI + Series-End-Winding PMSM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F177B3-9D9D-AF17-3294-A746DC32A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622" y="980644"/>
            <a:ext cx="6522972" cy="2500328"/>
          </a:xfrm>
          <a:prstGeom prst="rect">
            <a:avLst/>
          </a:prstGeom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532A2F4E-792D-6406-7B10-5B78805D9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11" y="1173517"/>
            <a:ext cx="5457063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Cost Effective.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Optimal DC Source Utilization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Low Current THD.</a:t>
            </a:r>
          </a:p>
          <a:p>
            <a:pPr marL="171450" indent="-17145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5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+mn-lt"/>
                <a:cs typeface="David" panose="020E0502060401010101" pitchFamily="34" charset="-79"/>
              </a:rPr>
              <a:t>Zero Sequence Current Suppression.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6960099" y="655964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Series-End VSI: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93F0CED-773B-5B78-12CC-2F39156FD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42286"/>
              </p:ext>
            </p:extLst>
          </p:nvPr>
        </p:nvGraphicFramePr>
        <p:xfrm>
          <a:off x="7068630" y="3474247"/>
          <a:ext cx="384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164880" progId="Equation.DSMT4">
                  <p:embed/>
                </p:oleObj>
              </mc:Choice>
              <mc:Fallback>
                <p:oleObj name="Equation" r:id="rId5" imgW="190440" imgH="16488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D29240C-2741-89FD-0ECE-C8BF48F17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68630" y="3474247"/>
                        <a:ext cx="3841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9251CF2-5352-58F2-C20C-1A0C2330B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07984"/>
              </p:ext>
            </p:extLst>
          </p:nvPr>
        </p:nvGraphicFramePr>
        <p:xfrm>
          <a:off x="8245158" y="3485295"/>
          <a:ext cx="434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40" imgH="164880" progId="Equation.DSMT4">
                  <p:embed/>
                </p:oleObj>
              </mc:Choice>
              <mc:Fallback>
                <p:oleObj name="Equation" r:id="rId7" imgW="215640" imgH="164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93F0CED-773B-5B78-12CC-2F39156FD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45158" y="3485295"/>
                        <a:ext cx="4349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D3A5DC4-9A74-5DCD-9736-1A7530907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137444"/>
              </p:ext>
            </p:extLst>
          </p:nvPr>
        </p:nvGraphicFramePr>
        <p:xfrm>
          <a:off x="9646603" y="3472595"/>
          <a:ext cx="4079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40" imgH="177480" progId="Equation.DSMT4">
                  <p:embed/>
                </p:oleObj>
              </mc:Choice>
              <mc:Fallback>
                <p:oleObj name="Equation" r:id="rId9" imgW="203040" imgH="1774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9251CF2-5352-58F2-C20C-1A0C2330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46603" y="3472595"/>
                        <a:ext cx="40798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ED875E7-FAB4-3EF1-61B8-4698EA205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21147"/>
              </p:ext>
            </p:extLst>
          </p:nvPr>
        </p:nvGraphicFramePr>
        <p:xfrm>
          <a:off x="10949940" y="3485930"/>
          <a:ext cx="433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5640" imgH="164880" progId="Equation.DSMT4">
                  <p:embed/>
                </p:oleObj>
              </mc:Choice>
              <mc:Fallback>
                <p:oleObj name="Equation" r:id="rId11" imgW="215640" imgH="164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3A5DC4-9A74-5DCD-9736-1A753090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949940" y="3485930"/>
                        <a:ext cx="433388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70C93F06-9868-D12D-100B-22AA42BB80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61860"/>
              </p:ext>
            </p:extLst>
          </p:nvPr>
        </p:nvGraphicFramePr>
        <p:xfrm>
          <a:off x="2190109" y="5949950"/>
          <a:ext cx="615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79360" progId="Equation.DSMT4">
                  <p:embed/>
                </p:oleObj>
              </mc:Choice>
              <mc:Fallback>
                <p:oleObj name="Equation" r:id="rId13" imgW="304560" imgH="27936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D29240C-2741-89FD-0ECE-C8BF48F17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90109" y="5949950"/>
                        <a:ext cx="615950" cy="56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63965017-166A-2A4F-8D12-08D33E3A28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507940"/>
              </p:ext>
            </p:extLst>
          </p:nvPr>
        </p:nvGraphicFramePr>
        <p:xfrm>
          <a:off x="7938453" y="3797715"/>
          <a:ext cx="11033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45760" imgH="279360" progId="Equation.DSMT4">
                  <p:embed/>
                </p:oleObj>
              </mc:Choice>
              <mc:Fallback>
                <p:oleObj name="Equation" r:id="rId15" imgW="545760" imgH="27936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70C93F06-9868-D12D-100B-22AA42BB80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38453" y="3797715"/>
                        <a:ext cx="1103312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25B86900-5F62-54E7-2301-5A5C55F76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503018"/>
              </p:ext>
            </p:extLst>
          </p:nvPr>
        </p:nvGraphicFramePr>
        <p:xfrm>
          <a:off x="10494725" y="3762793"/>
          <a:ext cx="13589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72840" imgH="279360" progId="Equation.DSMT4">
                  <p:embed/>
                </p:oleObj>
              </mc:Choice>
              <mc:Fallback>
                <p:oleObj name="Equation" r:id="rId17" imgW="672840" imgH="27936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559084A7-79F5-4436-20E8-8A4BE5DEB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494725" y="3762793"/>
                        <a:ext cx="1358900" cy="56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32643C3C-0EA5-CE45-12BD-AAF098717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378114"/>
              </p:ext>
            </p:extLst>
          </p:nvPr>
        </p:nvGraphicFramePr>
        <p:xfrm>
          <a:off x="9272709" y="3818670"/>
          <a:ext cx="11033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45760" imgH="279360" progId="Equation.DSMT4">
                  <p:embed/>
                </p:oleObj>
              </mc:Choice>
              <mc:Fallback>
                <p:oleObj name="Equation" r:id="rId19" imgW="545760" imgH="27936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63965017-166A-2A4F-8D12-08D33E3A2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272709" y="3818670"/>
                        <a:ext cx="1103312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1D6C2C96-4812-11EB-8BB9-5B85039D9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760624"/>
              </p:ext>
            </p:extLst>
          </p:nvPr>
        </p:nvGraphicFramePr>
        <p:xfrm>
          <a:off x="7001072" y="3798691"/>
          <a:ext cx="615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79360" progId="Equation.DSMT4">
                  <p:embed/>
                </p:oleObj>
              </mc:Choice>
              <mc:Fallback>
                <p:oleObj name="Equation" r:id="rId13" imgW="304560" imgH="27936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70C93F06-9868-D12D-100B-22AA42BB80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01072" y="3798691"/>
                        <a:ext cx="615950" cy="56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9EFA0C09-7715-ED52-26FD-5E302E096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430355"/>
              </p:ext>
            </p:extLst>
          </p:nvPr>
        </p:nvGraphicFramePr>
        <p:xfrm>
          <a:off x="6153150" y="5965190"/>
          <a:ext cx="6921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42720" imgH="253800" progId="Equation.DSMT4">
                  <p:embed/>
                </p:oleObj>
              </mc:Choice>
              <mc:Fallback>
                <p:oleObj name="Equation" r:id="rId21" imgW="342720" imgH="25380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25B86900-5F62-54E7-2301-5A5C55F76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53150" y="5965190"/>
                        <a:ext cx="692150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C96C8FDD-2881-25E7-C7F2-685F0547E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751512"/>
              </p:ext>
            </p:extLst>
          </p:nvPr>
        </p:nvGraphicFramePr>
        <p:xfrm>
          <a:off x="8179470" y="4568830"/>
          <a:ext cx="25050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05519" imgH="946715" progId="Equation.DSMT4">
                  <p:embed/>
                </p:oleObj>
              </mc:Choice>
              <mc:Fallback>
                <p:oleObj name="Equation" r:id="rId23" imgW="2505519" imgH="9467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179470" y="4568830"/>
                        <a:ext cx="2505075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8ECE0AE-8B8D-CAEE-51DC-92E31D9F6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888514"/>
              </p:ext>
            </p:extLst>
          </p:nvPr>
        </p:nvGraphicFramePr>
        <p:xfrm>
          <a:off x="7215818" y="1743778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720" imgH="228600" progId="Equation.DSMT4">
                  <p:embed/>
                </p:oleObj>
              </mc:Choice>
              <mc:Fallback>
                <p:oleObj name="Equation" r:id="rId25" imgW="12672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CA2BFAB-1A01-C50F-A306-59FC28104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15818" y="1743778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C2A3B83-0DDD-5EE9-C5DB-CA715D610C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588106"/>
              </p:ext>
            </p:extLst>
          </p:nvPr>
        </p:nvGraphicFramePr>
        <p:xfrm>
          <a:off x="8583955" y="1743778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228600" progId="Equation.DSMT4">
                  <p:embed/>
                </p:oleObj>
              </mc:Choice>
              <mc:Fallback>
                <p:oleObj name="Equation" r:id="rId27" imgW="12672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704BFAA-D45E-54C1-0F66-B188869AD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583955" y="1743778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4304D29-0413-6CA4-3D65-E7813DB47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664990"/>
              </p:ext>
            </p:extLst>
          </p:nvPr>
        </p:nvGraphicFramePr>
        <p:xfrm>
          <a:off x="9983264" y="1735563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228600" progId="Equation.DSMT4">
                  <p:embed/>
                </p:oleObj>
              </mc:Choice>
              <mc:Fallback>
                <p:oleObj name="Equation" r:id="rId29" imgW="12672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BEF17A9-72C2-529D-71F7-C875BAAD6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983264" y="1735563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46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84619AD-DC9A-5F17-0FD5-9C5E4A79C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617" y="860382"/>
            <a:ext cx="4019895" cy="20842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D117D7-1793-40A1-FA22-561542FFE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99" y="3788801"/>
            <a:ext cx="4986914" cy="2371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944EBB-0FEC-784D-99AB-42CDCBA34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387" y="598348"/>
            <a:ext cx="3941326" cy="29287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1005840" y="-29984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PMSM Drives: Series-End VSI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B8DD-1883-D1D1-9AEC-A1C2F5C7B009}"/>
              </a:ext>
            </a:extLst>
          </p:cNvPr>
          <p:cNvSpPr txBox="1"/>
          <p:nvPr/>
        </p:nvSpPr>
        <p:spPr>
          <a:xfrm>
            <a:off x="250824" y="608855"/>
            <a:ext cx="567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Existing Control Solutions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68555B-3EBC-985D-B201-0CA9D6C85C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824" y="1230096"/>
            <a:ext cx="6637656" cy="18475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AFCE1D-3A2F-A3FE-18B3-A959298CAB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102" y="3575226"/>
            <a:ext cx="4679178" cy="280750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CD0E4CB7-74F1-F73C-32EF-522F239EEC78}"/>
              </a:ext>
            </a:extLst>
          </p:cNvPr>
          <p:cNvSpPr/>
          <p:nvPr/>
        </p:nvSpPr>
        <p:spPr>
          <a:xfrm>
            <a:off x="7223760" y="1670151"/>
            <a:ext cx="508000" cy="344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AFB6903-890B-8385-740A-C2015A853542}"/>
              </a:ext>
            </a:extLst>
          </p:cNvPr>
          <p:cNvSpPr/>
          <p:nvPr/>
        </p:nvSpPr>
        <p:spPr>
          <a:xfrm rot="5400000">
            <a:off x="3417063" y="3369616"/>
            <a:ext cx="508000" cy="344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18A8F46-5A4F-45B8-7221-D3107A0ECF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166190"/>
              </p:ext>
            </p:extLst>
          </p:nvPr>
        </p:nvGraphicFramePr>
        <p:xfrm>
          <a:off x="5791145" y="5762396"/>
          <a:ext cx="1432941" cy="445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320" imgH="177480" progId="Equation.DSMT4">
                  <p:embed/>
                </p:oleObj>
              </mc:Choice>
              <mc:Fallback>
                <p:oleObj name="Equation" r:id="rId8" imgW="5713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91145" y="5762396"/>
                        <a:ext cx="1432941" cy="445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7CA6AACD-F517-1685-3AC3-DB2CF30FAF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575" y="3976453"/>
            <a:ext cx="5288738" cy="14326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93199B-E51B-0D2D-BC2B-FBA0082A96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557" y="3530611"/>
            <a:ext cx="5563082" cy="18137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637EAD-E726-8164-6471-EFAC72318F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4592" y="3744330"/>
            <a:ext cx="5349704" cy="10059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isometricTopUp"/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74CE68-A06A-E8D4-1219-E10D063F16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485" y="3851383"/>
            <a:ext cx="5075360" cy="13107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213CD5-0739-2A50-7963-243DDB8BD8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4517" y="3538835"/>
            <a:ext cx="4441473" cy="285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5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C482B7-5684-716D-E337-2DB81A35A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15" y="3771594"/>
            <a:ext cx="5747016" cy="2456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EEB78-845F-B30A-6E3F-2E8D93FAE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531" y="873433"/>
            <a:ext cx="6442841" cy="24690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C10512-19C1-7296-2941-8B12E2D77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58" y="765479"/>
            <a:ext cx="3660274" cy="2348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Series-End VSI Control Challenges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D9C24-436C-3338-4D81-671EB4A4E215}"/>
              </a:ext>
            </a:extLst>
          </p:cNvPr>
          <p:cNvSpPr txBox="1"/>
          <p:nvPr/>
        </p:nvSpPr>
        <p:spPr>
          <a:xfrm>
            <a:off x="203294" y="546244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Stator Model: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4652865" y="522157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Series-End VSI: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93F0CED-773B-5B78-12CC-2F39156FD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157297"/>
              </p:ext>
            </p:extLst>
          </p:nvPr>
        </p:nvGraphicFramePr>
        <p:xfrm>
          <a:off x="7068630" y="3220247"/>
          <a:ext cx="384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164880" progId="Equation.DSMT4">
                  <p:embed/>
                </p:oleObj>
              </mc:Choice>
              <mc:Fallback>
                <p:oleObj name="Equation" r:id="rId6" imgW="190440" imgH="164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93F0CED-773B-5B78-12CC-2F39156FD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8630" y="3220247"/>
                        <a:ext cx="3841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9251CF2-5352-58F2-C20C-1A0C2330B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153671"/>
              </p:ext>
            </p:extLst>
          </p:nvPr>
        </p:nvGraphicFramePr>
        <p:xfrm>
          <a:off x="8245158" y="3231295"/>
          <a:ext cx="434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64880" progId="Equation.DSMT4">
                  <p:embed/>
                </p:oleObj>
              </mc:Choice>
              <mc:Fallback>
                <p:oleObj name="Equation" r:id="rId8" imgW="215640" imgH="1648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9251CF2-5352-58F2-C20C-1A0C2330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45158" y="3231295"/>
                        <a:ext cx="4349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D3A5DC4-9A74-5DCD-9736-1A7530907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707444"/>
              </p:ext>
            </p:extLst>
          </p:nvPr>
        </p:nvGraphicFramePr>
        <p:xfrm>
          <a:off x="9646603" y="3218595"/>
          <a:ext cx="4079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177480" progId="Equation.DSMT4">
                  <p:embed/>
                </p:oleObj>
              </mc:Choice>
              <mc:Fallback>
                <p:oleObj name="Equation" r:id="rId10" imgW="203040" imgH="1774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3A5DC4-9A74-5DCD-9736-1A753090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46603" y="3218595"/>
                        <a:ext cx="40798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ED875E7-FAB4-3EF1-61B8-4698EA205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502950"/>
              </p:ext>
            </p:extLst>
          </p:nvPr>
        </p:nvGraphicFramePr>
        <p:xfrm>
          <a:off x="10949940" y="3231930"/>
          <a:ext cx="433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164880" progId="Equation.DSMT4">
                  <p:embed/>
                </p:oleObj>
              </mc:Choice>
              <mc:Fallback>
                <p:oleObj name="Equation" r:id="rId12" imgW="215640" imgH="1648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ED875E7-FAB4-3EF1-61B8-4698EA205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949940" y="3231930"/>
                        <a:ext cx="433388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C6F542B-A5E3-ED4F-E505-0515BEE604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37973" y="3789300"/>
            <a:ext cx="5829312" cy="24993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890E04-2E9A-C533-DC06-03D73E4E8507}"/>
              </a:ext>
            </a:extLst>
          </p:cNvPr>
          <p:cNvSpPr txBox="1"/>
          <p:nvPr/>
        </p:nvSpPr>
        <p:spPr>
          <a:xfrm>
            <a:off x="169317" y="3136756"/>
            <a:ext cx="5357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Only one phase can be corrected for ZSC at a time!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Adverse Impact on Phase Currents</a:t>
            </a:r>
            <a:endParaRPr lang="en-IL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8DB6834-4AB8-FC62-406F-45EB0130E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884652"/>
              </p:ext>
            </p:extLst>
          </p:nvPr>
        </p:nvGraphicFramePr>
        <p:xfrm>
          <a:off x="7396569" y="1584287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0" imgH="228600" progId="Equation.DSMT4">
                  <p:embed/>
                </p:oleObj>
              </mc:Choice>
              <mc:Fallback>
                <p:oleObj name="Equation" r:id="rId15" imgW="12672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CA2BFAB-1A01-C50F-A306-59FC28104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96569" y="1584287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AF466FA-59F2-8F8E-ECE1-E007394E2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66396"/>
              </p:ext>
            </p:extLst>
          </p:nvPr>
        </p:nvGraphicFramePr>
        <p:xfrm>
          <a:off x="8764706" y="1584287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6720" imgH="228600" progId="Equation.DSMT4">
                  <p:embed/>
                </p:oleObj>
              </mc:Choice>
              <mc:Fallback>
                <p:oleObj name="Equation" r:id="rId17" imgW="12672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704BFAA-D45E-54C1-0F66-B188869AD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64706" y="1584287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451E50A-BDF8-C528-18AE-F25C93FCD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461470"/>
              </p:ext>
            </p:extLst>
          </p:nvPr>
        </p:nvGraphicFramePr>
        <p:xfrm>
          <a:off x="10164015" y="1576072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28600" progId="Equation.DSMT4">
                  <p:embed/>
                </p:oleObj>
              </mc:Choice>
              <mc:Fallback>
                <p:oleObj name="Equation" r:id="rId19" imgW="12672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BEF17A9-72C2-529D-71F7-C875BAAD6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164015" y="1576072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948E0EC-932C-FA92-9076-042190BF0C22}"/>
                  </a:ext>
                </a:extLst>
              </p14:cNvPr>
              <p14:cNvContentPartPr/>
              <p14:nvPr/>
            </p14:nvContentPartPr>
            <p14:xfrm>
              <a:off x="7637952" y="1956840"/>
              <a:ext cx="113400" cy="9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948E0EC-932C-FA92-9076-042190BF0C2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31832" y="1950720"/>
                <a:ext cx="1256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FBC35C1-8D36-E563-0084-838812D6A43C}"/>
                  </a:ext>
                </a:extLst>
              </p14:cNvPr>
              <p14:cNvContentPartPr/>
              <p14:nvPr/>
            </p14:nvContentPartPr>
            <p14:xfrm>
              <a:off x="9007245" y="1967808"/>
              <a:ext cx="113400" cy="9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FBC35C1-8D36-E563-0084-838812D6A43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001125" y="1961688"/>
                <a:ext cx="1256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D11098-879E-A966-2776-1A88529140F5}"/>
                  </a:ext>
                </a:extLst>
              </p14:cNvPr>
              <p14:cNvContentPartPr/>
              <p14:nvPr/>
            </p14:nvContentPartPr>
            <p14:xfrm>
              <a:off x="10362902" y="1956840"/>
              <a:ext cx="113400" cy="94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D11098-879E-A966-2776-1A88529140F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356782" y="1950720"/>
                <a:ext cx="125640" cy="1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687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C10512-19C1-7296-2941-8B12E2D77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95" y="617015"/>
            <a:ext cx="3660274" cy="2348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Solution: TDM-based Series-End VSI Control</a:t>
            </a:r>
            <a:endParaRPr lang="en-IL" sz="3200" dirty="0">
              <a:latin typeface="Georgia" panose="02040502050405020303" pitchFamily="18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1D29240C-2741-89FD-0ECE-C8BF48F17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698663"/>
              </p:ext>
            </p:extLst>
          </p:nvPr>
        </p:nvGraphicFramePr>
        <p:xfrm>
          <a:off x="4836950" y="3961067"/>
          <a:ext cx="25066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469800" progId="Equation.DSMT4">
                  <p:embed/>
                </p:oleObj>
              </mc:Choice>
              <mc:Fallback>
                <p:oleObj name="Equation" r:id="rId4" imgW="1244520" imgH="4698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D29240C-2741-89FD-0ECE-C8BF48F17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36950" y="3961067"/>
                        <a:ext cx="2506662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4F177B3-9D9D-AF17-3294-A746DC32A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622" y="980644"/>
            <a:ext cx="6522972" cy="2500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7D9C24-436C-3338-4D81-671EB4A4E215}"/>
              </a:ext>
            </a:extLst>
          </p:cNvPr>
          <p:cNvSpPr txBox="1"/>
          <p:nvPr/>
        </p:nvSpPr>
        <p:spPr>
          <a:xfrm>
            <a:off x="-217479" y="531786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Stator Model: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4596570" y="626373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Series-End VSI: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93F0CED-773B-5B78-12CC-2F39156FD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470963"/>
              </p:ext>
            </p:extLst>
          </p:nvPr>
        </p:nvGraphicFramePr>
        <p:xfrm>
          <a:off x="6826250" y="3386138"/>
          <a:ext cx="8715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40" imgH="253800" progId="Equation.DSMT4">
                  <p:embed/>
                </p:oleObj>
              </mc:Choice>
              <mc:Fallback>
                <p:oleObj name="Equation" r:id="rId7" imgW="431640" imgH="25380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93F0CED-773B-5B78-12CC-2F39156FD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26250" y="3386138"/>
                        <a:ext cx="871538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9251CF2-5352-58F2-C20C-1A0C2330B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541993"/>
              </p:ext>
            </p:extLst>
          </p:nvPr>
        </p:nvGraphicFramePr>
        <p:xfrm>
          <a:off x="7889896" y="3386138"/>
          <a:ext cx="12287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253800" progId="Equation.DSMT4">
                  <p:embed/>
                </p:oleObj>
              </mc:Choice>
              <mc:Fallback>
                <p:oleObj name="Equation" r:id="rId9" imgW="609480" imgH="2538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9251CF2-5352-58F2-C20C-1A0C2330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89896" y="3386138"/>
                        <a:ext cx="1228725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D3A5DC4-9A74-5DCD-9736-1A7530907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32713"/>
              </p:ext>
            </p:extLst>
          </p:nvPr>
        </p:nvGraphicFramePr>
        <p:xfrm>
          <a:off x="9239250" y="3395663"/>
          <a:ext cx="122396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480" imgH="253800" progId="Equation.DSMT4">
                  <p:embed/>
                </p:oleObj>
              </mc:Choice>
              <mc:Fallback>
                <p:oleObj name="Equation" r:id="rId11" imgW="609480" imgH="2538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3A5DC4-9A74-5DCD-9736-1A753090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39250" y="3395663"/>
                        <a:ext cx="1223963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ED875E7-FAB4-3EF1-61B8-4698EA205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222020"/>
              </p:ext>
            </p:extLst>
          </p:nvPr>
        </p:nvGraphicFramePr>
        <p:xfrm>
          <a:off x="10709275" y="3395663"/>
          <a:ext cx="917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57200" imgH="253800" progId="Equation.DSMT4">
                  <p:embed/>
                </p:oleObj>
              </mc:Choice>
              <mc:Fallback>
                <p:oleObj name="Equation" r:id="rId13" imgW="457200" imgH="2538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ED875E7-FAB4-3EF1-61B8-4698EA205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709275" y="3395663"/>
                        <a:ext cx="917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9593ABD7-224E-5CF8-B6D7-59C605B8A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897322"/>
              </p:ext>
            </p:extLst>
          </p:nvPr>
        </p:nvGraphicFramePr>
        <p:xfrm>
          <a:off x="670869" y="5017955"/>
          <a:ext cx="35052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39880" imgH="469800" progId="Equation.DSMT4">
                  <p:embed/>
                </p:oleObj>
              </mc:Choice>
              <mc:Fallback>
                <p:oleObj name="Equation" r:id="rId15" imgW="1739880" imgH="4698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9593ABD7-224E-5CF8-B6D7-59C605B8A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0869" y="5017955"/>
                        <a:ext cx="35052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2650BFC5-E3AF-9E5D-C753-D54F306CD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670120"/>
              </p:ext>
            </p:extLst>
          </p:nvPr>
        </p:nvGraphicFramePr>
        <p:xfrm>
          <a:off x="4350381" y="5010560"/>
          <a:ext cx="34798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26920" imgH="469800" progId="Equation.DSMT4">
                  <p:embed/>
                </p:oleObj>
              </mc:Choice>
              <mc:Fallback>
                <p:oleObj name="Equation" r:id="rId17" imgW="1726920" imgH="46980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2650BFC5-E3AF-9E5D-C753-D54F306CDB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50381" y="5010560"/>
                        <a:ext cx="34798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0344278B-A9A3-B9E0-F9F6-F75ED11CF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125019"/>
              </p:ext>
            </p:extLst>
          </p:nvPr>
        </p:nvGraphicFramePr>
        <p:xfrm>
          <a:off x="8004493" y="5010560"/>
          <a:ext cx="34798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26920" imgH="469800" progId="Equation.DSMT4">
                  <p:embed/>
                </p:oleObj>
              </mc:Choice>
              <mc:Fallback>
                <p:oleObj name="Equation" r:id="rId19" imgW="1726920" imgH="4698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0344278B-A9A3-B9E0-F9F6-F75ED11CF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004493" y="5010560"/>
                        <a:ext cx="34798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65B652-BBDC-1BBB-A031-63C7D8318957}"/>
              </a:ext>
            </a:extLst>
          </p:cNvPr>
          <p:cNvSpPr txBox="1"/>
          <p:nvPr/>
        </p:nvSpPr>
        <p:spPr>
          <a:xfrm>
            <a:off x="670869" y="4632034"/>
            <a:ext cx="3652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Current Component Decupling</a:t>
            </a:r>
            <a:endParaRPr lang="en-IL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C046E-4514-1961-2D42-08BFAF71148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9221" y="2934938"/>
            <a:ext cx="4454389" cy="1608863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CA2BFAB-1A01-C50F-A306-59FC281042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756269"/>
              </p:ext>
            </p:extLst>
          </p:nvPr>
        </p:nvGraphicFramePr>
        <p:xfrm>
          <a:off x="7215818" y="1743778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0" imgH="228600" progId="Equation.DSMT4">
                  <p:embed/>
                </p:oleObj>
              </mc:Choice>
              <mc:Fallback>
                <p:oleObj name="Equation" r:id="rId22" imgW="126720" imgH="2286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9593ABD7-224E-5CF8-B6D7-59C605B8A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15818" y="1743778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704BFAA-D45E-54C1-0F66-B188869ADF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298282"/>
              </p:ext>
            </p:extLst>
          </p:nvPr>
        </p:nvGraphicFramePr>
        <p:xfrm>
          <a:off x="8583955" y="1743778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720" imgH="228600" progId="Equation.DSMT4">
                  <p:embed/>
                </p:oleObj>
              </mc:Choice>
              <mc:Fallback>
                <p:oleObj name="Equation" r:id="rId24" imgW="12672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CA2BFAB-1A01-C50F-A306-59FC28104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583955" y="1743778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BEF17A9-72C2-529D-71F7-C875BAAD66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228869"/>
              </p:ext>
            </p:extLst>
          </p:nvPr>
        </p:nvGraphicFramePr>
        <p:xfrm>
          <a:off x="9983264" y="1735563"/>
          <a:ext cx="255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720" imgH="228600" progId="Equation.DSMT4">
                  <p:embed/>
                </p:oleObj>
              </mc:Choice>
              <mc:Fallback>
                <p:oleObj name="Equation" r:id="rId26" imgW="12672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704BFAA-D45E-54C1-0F66-B188869AD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83264" y="1735563"/>
                        <a:ext cx="255587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6615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TDM-based Series-End VSI Control</a:t>
            </a:r>
            <a:endParaRPr lang="en-IL" sz="3200" dirty="0">
              <a:latin typeface="Georgia" panose="02040502050405020303" pitchFamily="18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1D29240C-2741-89FD-0ECE-C8BF48F17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781439"/>
              </p:ext>
            </p:extLst>
          </p:nvPr>
        </p:nvGraphicFramePr>
        <p:xfrm>
          <a:off x="276461" y="3930316"/>
          <a:ext cx="258286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469800" progId="Equation.DSMT4">
                  <p:embed/>
                </p:oleObj>
              </mc:Choice>
              <mc:Fallback>
                <p:oleObj name="Equation" r:id="rId3" imgW="1282680" imgH="4698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D29240C-2741-89FD-0ECE-C8BF48F17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461" y="3930316"/>
                        <a:ext cx="2582863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4F177B3-9D9D-AF17-3294-A746DC32A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622" y="980644"/>
            <a:ext cx="6522972" cy="25003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4596570" y="626373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Series-End VSI: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93F0CED-773B-5B78-12CC-2F39156FD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8630" y="3474247"/>
          <a:ext cx="384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164880" progId="Equation.DSMT4">
                  <p:embed/>
                </p:oleObj>
              </mc:Choice>
              <mc:Fallback>
                <p:oleObj name="Equation" r:id="rId6" imgW="190440" imgH="164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93F0CED-773B-5B78-12CC-2F39156FD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8630" y="3474247"/>
                        <a:ext cx="3841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9251CF2-5352-58F2-C20C-1A0C2330BA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5158" y="3485295"/>
          <a:ext cx="434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64880" progId="Equation.DSMT4">
                  <p:embed/>
                </p:oleObj>
              </mc:Choice>
              <mc:Fallback>
                <p:oleObj name="Equation" r:id="rId8" imgW="215640" imgH="1648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9251CF2-5352-58F2-C20C-1A0C2330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45158" y="3485295"/>
                        <a:ext cx="4349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D3A5DC4-9A74-5DCD-9736-1A75309070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46603" y="3472595"/>
          <a:ext cx="4079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177480" progId="Equation.DSMT4">
                  <p:embed/>
                </p:oleObj>
              </mc:Choice>
              <mc:Fallback>
                <p:oleObj name="Equation" r:id="rId10" imgW="203040" imgH="1774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3A5DC4-9A74-5DCD-9736-1A753090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46603" y="3472595"/>
                        <a:ext cx="40798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ED875E7-FAB4-3EF1-61B8-4698EA205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49940" y="3485930"/>
          <a:ext cx="433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164880" progId="Equation.DSMT4">
                  <p:embed/>
                </p:oleObj>
              </mc:Choice>
              <mc:Fallback>
                <p:oleObj name="Equation" r:id="rId12" imgW="215640" imgH="1648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ED875E7-FAB4-3EF1-61B8-4698EA205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949940" y="3485930"/>
                        <a:ext cx="433388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9593ABD7-224E-5CF8-B6D7-59C605B8A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604007"/>
              </p:ext>
            </p:extLst>
          </p:nvPr>
        </p:nvGraphicFramePr>
        <p:xfrm>
          <a:off x="251061" y="1029237"/>
          <a:ext cx="34290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01720" imgH="469800" progId="Equation.DSMT4">
                  <p:embed/>
                </p:oleObj>
              </mc:Choice>
              <mc:Fallback>
                <p:oleObj name="Equation" r:id="rId14" imgW="1701720" imgH="4698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9593ABD7-224E-5CF8-B6D7-59C605B8A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1061" y="1029237"/>
                        <a:ext cx="34290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2650BFC5-E3AF-9E5D-C753-D54F306CD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282750"/>
              </p:ext>
            </p:extLst>
          </p:nvPr>
        </p:nvGraphicFramePr>
        <p:xfrm>
          <a:off x="264554" y="2026500"/>
          <a:ext cx="340201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88760" imgH="469800" progId="Equation.DSMT4">
                  <p:embed/>
                </p:oleObj>
              </mc:Choice>
              <mc:Fallback>
                <p:oleObj name="Equation" r:id="rId16" imgW="1688760" imgH="46980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2650BFC5-E3AF-9E5D-C753-D54F306CDB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4554" y="2026500"/>
                        <a:ext cx="3402013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0344278B-A9A3-B9E0-F9F6-F75ED11CF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065929"/>
              </p:ext>
            </p:extLst>
          </p:nvPr>
        </p:nvGraphicFramePr>
        <p:xfrm>
          <a:off x="276461" y="2984166"/>
          <a:ext cx="34036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88760" imgH="469800" progId="Equation.DSMT4">
                  <p:embed/>
                </p:oleObj>
              </mc:Choice>
              <mc:Fallback>
                <p:oleObj name="Equation" r:id="rId18" imgW="1688760" imgH="4698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0344278B-A9A3-B9E0-F9F6-F75ED11CF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76461" y="2984166"/>
                        <a:ext cx="34036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F2ED51-C76D-6FAD-3B82-76BE14AD5B67}"/>
              </a:ext>
            </a:extLst>
          </p:cNvPr>
          <p:cNvSpPr txBox="1"/>
          <p:nvPr/>
        </p:nvSpPr>
        <p:spPr>
          <a:xfrm>
            <a:off x="251061" y="589451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Control Objectives: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17A3FA0-F7C0-FF6A-6F28-4D8B4BA6A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945586"/>
              </p:ext>
            </p:extLst>
          </p:nvPr>
        </p:nvGraphicFramePr>
        <p:xfrm>
          <a:off x="2987672" y="4098074"/>
          <a:ext cx="62642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11480" imgH="304560" progId="Equation.DSMT4">
                  <p:embed/>
                </p:oleObj>
              </mc:Choice>
              <mc:Fallback>
                <p:oleObj name="Equation" r:id="rId20" imgW="3111480" imgH="30456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D29240C-2741-89FD-0ECE-C8BF48F17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87672" y="4098074"/>
                        <a:ext cx="6264275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BD929A4-351B-E88B-FBC9-2A9E9BB7364C}"/>
              </a:ext>
            </a:extLst>
          </p:cNvPr>
          <p:cNvSpPr txBox="1"/>
          <p:nvPr/>
        </p:nvSpPr>
        <p:spPr>
          <a:xfrm>
            <a:off x="723265" y="5820943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Differential Mode Errors: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4F5C6C0-1842-41C6-1622-817358DC2F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078510"/>
              </p:ext>
            </p:extLst>
          </p:nvPr>
        </p:nvGraphicFramePr>
        <p:xfrm>
          <a:off x="3380867" y="5737085"/>
          <a:ext cx="73755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657600" imgH="317160" progId="Equation.DSMT4">
                  <p:embed/>
                </p:oleObj>
              </mc:Choice>
              <mc:Fallback>
                <p:oleObj name="Equation" r:id="rId22" imgW="3657600" imgH="31716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9593ABD7-224E-5CF8-B6D7-59C605B8A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380867" y="5737085"/>
                        <a:ext cx="7375525" cy="63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D083830-2240-2846-7908-5EFCB3037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292564"/>
              </p:ext>
            </p:extLst>
          </p:nvPr>
        </p:nvGraphicFramePr>
        <p:xfrm>
          <a:off x="3088640" y="4999100"/>
          <a:ext cx="78613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98800" imgH="304560" progId="Equation.DSMT4">
                  <p:embed/>
                </p:oleObj>
              </mc:Choice>
              <mc:Fallback>
                <p:oleObj name="Equation" r:id="rId24" imgW="3898800" imgH="3045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4F5C6C0-1842-41C6-1622-817358DC2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088640" y="4999100"/>
                        <a:ext cx="7861300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31C37B6-C069-6B70-4049-22D142A9DF92}"/>
              </a:ext>
            </a:extLst>
          </p:cNvPr>
          <p:cNvSpPr txBox="1"/>
          <p:nvPr/>
        </p:nvSpPr>
        <p:spPr>
          <a:xfrm>
            <a:off x="803511" y="5127995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Common Mode Errors: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777C5-CAEA-9E35-82E2-6D5F9BC68CFF}"/>
              </a:ext>
            </a:extLst>
          </p:cNvPr>
          <p:cNvSpPr txBox="1"/>
          <p:nvPr/>
        </p:nvSpPr>
        <p:spPr>
          <a:xfrm>
            <a:off x="5286680" y="4679166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 Errors in total:</a:t>
            </a:r>
            <a:endParaRPr lang="en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965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TDM-based Series-End VSI Control</a:t>
            </a:r>
            <a:endParaRPr lang="en-IL" sz="3200" dirty="0"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F177B3-9D9D-AF17-3294-A746DC32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622" y="980644"/>
            <a:ext cx="6522972" cy="25003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4596570" y="626373"/>
            <a:ext cx="28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Series-End VSI: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93F0CED-773B-5B78-12CC-2F39156FD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8630" y="3474247"/>
          <a:ext cx="384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64880" progId="Equation.DSMT4">
                  <p:embed/>
                </p:oleObj>
              </mc:Choice>
              <mc:Fallback>
                <p:oleObj name="Equation" r:id="rId4" imgW="190440" imgH="164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93F0CED-773B-5B78-12CC-2F39156FD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68630" y="3474247"/>
                        <a:ext cx="3841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9251CF2-5352-58F2-C20C-1A0C2330BA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5158" y="3485295"/>
          <a:ext cx="434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64880" progId="Equation.DSMT4">
                  <p:embed/>
                </p:oleObj>
              </mc:Choice>
              <mc:Fallback>
                <p:oleObj name="Equation" r:id="rId6" imgW="215640" imgH="1648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9251CF2-5352-58F2-C20C-1A0C2330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45158" y="3485295"/>
                        <a:ext cx="4349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D3A5DC4-9A74-5DCD-9736-1A75309070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46603" y="3472595"/>
          <a:ext cx="4079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DSMT4">
                  <p:embed/>
                </p:oleObj>
              </mc:Choice>
              <mc:Fallback>
                <p:oleObj name="Equation" r:id="rId8" imgW="203040" imgH="1774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3A5DC4-9A74-5DCD-9736-1A753090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46603" y="3472595"/>
                        <a:ext cx="40798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ED875E7-FAB4-3EF1-61B8-4698EA205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49940" y="3485930"/>
          <a:ext cx="433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164880" progId="Equation.DSMT4">
                  <p:embed/>
                </p:oleObj>
              </mc:Choice>
              <mc:Fallback>
                <p:oleObj name="Equation" r:id="rId10" imgW="215640" imgH="1648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ED875E7-FAB4-3EF1-61B8-4698EA205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949940" y="3485930"/>
                        <a:ext cx="433388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2E10666-799B-498C-DD7D-5CE6D2D10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30882"/>
              </p:ext>
            </p:extLst>
          </p:nvPr>
        </p:nvGraphicFramePr>
        <p:xfrm>
          <a:off x="758031" y="1387735"/>
          <a:ext cx="31496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62040" imgH="888840" progId="Equation.DSMT4">
                  <p:embed/>
                </p:oleObj>
              </mc:Choice>
              <mc:Fallback>
                <p:oleObj name="Equation" r:id="rId12" imgW="1562040" imgH="8888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4F5C6C0-1842-41C6-1622-817358DC2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8031" y="1387735"/>
                        <a:ext cx="3149600" cy="178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A53EA41-A185-5A42-0A02-CA465164A4C5}"/>
              </a:ext>
            </a:extLst>
          </p:cNvPr>
          <p:cNvSpPr txBox="1"/>
          <p:nvPr/>
        </p:nvSpPr>
        <p:spPr>
          <a:xfrm>
            <a:off x="428829" y="703645"/>
            <a:ext cx="493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Per-Phase Errors (</a:t>
            </a:r>
            <a:r>
              <a:rPr lang="en-US" b="1" dirty="0">
                <a:solidFill>
                  <a:srgbClr val="FF0000"/>
                </a:solidFill>
              </a:rPr>
              <a:t>6 to 3 error reduction - compare-swap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6FB75AF-173A-9562-2137-291F728B3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902507"/>
              </p:ext>
            </p:extLst>
          </p:nvPr>
        </p:nvGraphicFramePr>
        <p:xfrm>
          <a:off x="428829" y="3620226"/>
          <a:ext cx="48133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87520" imgH="330120" progId="Equation.DSMT4">
                  <p:embed/>
                </p:oleObj>
              </mc:Choice>
              <mc:Fallback>
                <p:oleObj name="Equation" r:id="rId14" imgW="2387520" imgH="3301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2E10666-799B-498C-DD7D-5CE6D2D106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28829" y="3620226"/>
                        <a:ext cx="4813300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3F3F13-A56D-ED43-4BAC-763A585CC2F3}"/>
              </a:ext>
            </a:extLst>
          </p:cNvPr>
          <p:cNvSpPr txBox="1"/>
          <p:nvPr/>
        </p:nvSpPr>
        <p:spPr>
          <a:xfrm>
            <a:off x="465772" y="3262353"/>
            <a:ext cx="4130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Error Priority determination:</a:t>
            </a:r>
            <a:endParaRPr lang="en-IL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351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TDM-based Series-End VSI Control</a:t>
            </a:r>
            <a:endParaRPr lang="en-IL" sz="3200" dirty="0"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F177B3-9D9D-AF17-3294-A746DC32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742" y="980644"/>
            <a:ext cx="6522972" cy="25003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5729764" y="648417"/>
            <a:ext cx="206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Series-End VSI: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93F0CED-773B-5B78-12CC-2F39156FD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686382"/>
              </p:ext>
            </p:extLst>
          </p:nvPr>
        </p:nvGraphicFramePr>
        <p:xfrm>
          <a:off x="7647750" y="3474247"/>
          <a:ext cx="384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64880" progId="Equation.DSMT4">
                  <p:embed/>
                </p:oleObj>
              </mc:Choice>
              <mc:Fallback>
                <p:oleObj name="Equation" r:id="rId4" imgW="190440" imgH="164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93F0CED-773B-5B78-12CC-2F39156FD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47750" y="3474247"/>
                        <a:ext cx="3841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9251CF2-5352-58F2-C20C-1A0C2330B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102463"/>
              </p:ext>
            </p:extLst>
          </p:nvPr>
        </p:nvGraphicFramePr>
        <p:xfrm>
          <a:off x="8824278" y="3485295"/>
          <a:ext cx="434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64880" progId="Equation.DSMT4">
                  <p:embed/>
                </p:oleObj>
              </mc:Choice>
              <mc:Fallback>
                <p:oleObj name="Equation" r:id="rId6" imgW="215640" imgH="1648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9251CF2-5352-58F2-C20C-1A0C2330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24278" y="3485295"/>
                        <a:ext cx="4349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D3A5DC4-9A74-5DCD-9736-1A7530907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817807"/>
              </p:ext>
            </p:extLst>
          </p:nvPr>
        </p:nvGraphicFramePr>
        <p:xfrm>
          <a:off x="10225723" y="3472595"/>
          <a:ext cx="4079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DSMT4">
                  <p:embed/>
                </p:oleObj>
              </mc:Choice>
              <mc:Fallback>
                <p:oleObj name="Equation" r:id="rId8" imgW="203040" imgH="1774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3A5DC4-9A74-5DCD-9736-1A753090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225723" y="3472595"/>
                        <a:ext cx="40798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ED875E7-FAB4-3EF1-61B8-4698EA205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055419"/>
              </p:ext>
            </p:extLst>
          </p:nvPr>
        </p:nvGraphicFramePr>
        <p:xfrm>
          <a:off x="11529060" y="3475770"/>
          <a:ext cx="433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164880" progId="Equation.DSMT4">
                  <p:embed/>
                </p:oleObj>
              </mc:Choice>
              <mc:Fallback>
                <p:oleObj name="Equation" r:id="rId10" imgW="215640" imgH="1648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ED875E7-FAB4-3EF1-61B8-4698EA205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529060" y="3475770"/>
                        <a:ext cx="433388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6FB75AF-173A-9562-2137-291F728B3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984550"/>
              </p:ext>
            </p:extLst>
          </p:nvPr>
        </p:nvGraphicFramePr>
        <p:xfrm>
          <a:off x="6419611" y="3914156"/>
          <a:ext cx="4382102" cy="59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720" imgH="330120" progId="Equation.DSMT4">
                  <p:embed/>
                </p:oleObj>
              </mc:Choice>
              <mc:Fallback>
                <p:oleObj name="Equation" r:id="rId12" imgW="2412720" imgH="3301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6FB75AF-173A-9562-2137-291F728B3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19611" y="3914156"/>
                        <a:ext cx="4382102" cy="59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2A23924-5CE5-6340-5CCB-62AB87B495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31" y="633134"/>
            <a:ext cx="2531862" cy="444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6BE634-CF1F-B3A3-D014-20CD0FF811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321" y="616106"/>
            <a:ext cx="2531862" cy="578764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F08420-2271-A71E-FF1C-1D7802130E4D}"/>
              </a:ext>
            </a:extLst>
          </p:cNvPr>
          <p:cNvSpPr txBox="1"/>
          <p:nvPr/>
        </p:nvSpPr>
        <p:spPr>
          <a:xfrm>
            <a:off x="213360" y="5087374"/>
            <a:ext cx="274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Per-Leg Lookup Table: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C237D78-6AE3-6DF3-4BF1-44B1B86FF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512742"/>
              </p:ext>
            </p:extLst>
          </p:nvPr>
        </p:nvGraphicFramePr>
        <p:xfrm>
          <a:off x="127437" y="5442572"/>
          <a:ext cx="26098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95280" imgH="317160" progId="Equation.DSMT4">
                  <p:embed/>
                </p:oleObj>
              </mc:Choice>
              <mc:Fallback>
                <p:oleObj name="Equation" r:id="rId16" imgW="1295280" imgH="3171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6FB75AF-173A-9562-2137-291F728B3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7437" y="5442572"/>
                        <a:ext cx="2609850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C33D5E7-C1A8-A216-5F34-9A2B368A13F5}"/>
              </a:ext>
            </a:extLst>
          </p:cNvPr>
          <p:cNvSpPr txBox="1"/>
          <p:nvPr/>
        </p:nvSpPr>
        <p:spPr>
          <a:xfrm>
            <a:off x="6155575" y="5660753"/>
            <a:ext cx="5337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cannot be corrected is preserved (by applying zero voltage to the discarded phase)</a:t>
            </a:r>
            <a:endParaRPr lang="en-IL" b="1" dirty="0">
              <a:solidFill>
                <a:srgbClr val="FF0000"/>
              </a:solidFill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9291054-9DD7-5AE3-C32D-C2279F397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29035"/>
              </p:ext>
            </p:extLst>
          </p:nvPr>
        </p:nvGraphicFramePr>
        <p:xfrm>
          <a:off x="5490558" y="4538879"/>
          <a:ext cx="6240207" cy="540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17560" imgH="304560" progId="Equation.DSMT4">
                  <p:embed/>
                </p:oleObj>
              </mc:Choice>
              <mc:Fallback>
                <p:oleObj name="Equation" r:id="rId18" imgW="3517560" imgH="3045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6FB75AF-173A-9562-2137-291F728B3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490558" y="4538879"/>
                        <a:ext cx="6240207" cy="540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ADFE3F3-B84F-3067-E275-AC8111EA6C2E}"/>
              </a:ext>
            </a:extLst>
          </p:cNvPr>
          <p:cNvSpPr/>
          <p:nvPr/>
        </p:nvSpPr>
        <p:spPr>
          <a:xfrm>
            <a:off x="2784662" y="2362200"/>
            <a:ext cx="2636231" cy="167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8C762A-CCA7-AB41-13CC-0A26335123F5}"/>
              </a:ext>
            </a:extLst>
          </p:cNvPr>
          <p:cNvSpPr/>
          <p:nvPr/>
        </p:nvSpPr>
        <p:spPr>
          <a:xfrm>
            <a:off x="7501890" y="1450933"/>
            <a:ext cx="718947" cy="421521"/>
          </a:xfrm>
          <a:prstGeom prst="ellipse">
            <a:avLst/>
          </a:prstGeom>
          <a:solidFill>
            <a:srgbClr val="FFFF00">
              <a:alpha val="50196"/>
            </a:srgb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77B1E2-0AF1-43C5-FE2B-665C836B3709}"/>
              </a:ext>
            </a:extLst>
          </p:cNvPr>
          <p:cNvSpPr/>
          <p:nvPr/>
        </p:nvSpPr>
        <p:spPr>
          <a:xfrm>
            <a:off x="8751570" y="2456535"/>
            <a:ext cx="718947" cy="421521"/>
          </a:xfrm>
          <a:prstGeom prst="ellipse">
            <a:avLst/>
          </a:prstGeom>
          <a:solidFill>
            <a:srgbClr val="FFFF00">
              <a:alpha val="50196"/>
            </a:srgb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F9FE45-AFDB-A024-2045-FAFA94C6BD86}"/>
              </a:ext>
            </a:extLst>
          </p:cNvPr>
          <p:cNvSpPr/>
          <p:nvPr/>
        </p:nvSpPr>
        <p:spPr>
          <a:xfrm>
            <a:off x="10070242" y="1440648"/>
            <a:ext cx="718947" cy="421521"/>
          </a:xfrm>
          <a:prstGeom prst="ellipse">
            <a:avLst/>
          </a:prstGeom>
          <a:solidFill>
            <a:srgbClr val="FFFF00">
              <a:alpha val="50196"/>
            </a:srgb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679A2E-5965-7978-69E9-B9226B19B3A6}"/>
              </a:ext>
            </a:extLst>
          </p:cNvPr>
          <p:cNvSpPr/>
          <p:nvPr/>
        </p:nvSpPr>
        <p:spPr>
          <a:xfrm>
            <a:off x="11443376" y="1450703"/>
            <a:ext cx="718947" cy="421521"/>
          </a:xfrm>
          <a:prstGeom prst="ellipse">
            <a:avLst/>
          </a:prstGeom>
          <a:solidFill>
            <a:srgbClr val="FFFF00">
              <a:alpha val="50196"/>
            </a:srgb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FC98FE8-55D8-DD45-904C-0DB1672336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90009"/>
              </p:ext>
            </p:extLst>
          </p:nvPr>
        </p:nvGraphicFramePr>
        <p:xfrm>
          <a:off x="7331136" y="5174983"/>
          <a:ext cx="25590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09400" imgH="266400" progId="Equation.DSMT4">
                  <p:embed/>
                </p:oleObj>
              </mc:Choice>
              <mc:Fallback>
                <p:oleObj name="Equation" r:id="rId20" imgW="1409400" imgH="2664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6FB75AF-173A-9562-2137-291F728B3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331136" y="5174983"/>
                        <a:ext cx="2559050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6ADBEDF1-811C-8043-8FDF-92F5997DF63F}"/>
              </a:ext>
            </a:extLst>
          </p:cNvPr>
          <p:cNvSpPr/>
          <p:nvPr/>
        </p:nvSpPr>
        <p:spPr>
          <a:xfrm>
            <a:off x="3038710" y="2389856"/>
            <a:ext cx="154303" cy="139984"/>
          </a:xfrm>
          <a:prstGeom prst="ellipse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60D140-C49D-D250-21E2-41CC94D512AF}"/>
              </a:ext>
            </a:extLst>
          </p:cNvPr>
          <p:cNvSpPr/>
          <p:nvPr/>
        </p:nvSpPr>
        <p:spPr>
          <a:xfrm>
            <a:off x="3699374" y="2376028"/>
            <a:ext cx="154303" cy="139984"/>
          </a:xfrm>
          <a:prstGeom prst="ellipse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04D1AB-69ED-3049-8D1D-86EFA8FB1CD2}"/>
              </a:ext>
            </a:extLst>
          </p:cNvPr>
          <p:cNvSpPr/>
          <p:nvPr/>
        </p:nvSpPr>
        <p:spPr>
          <a:xfrm>
            <a:off x="3240122" y="2374956"/>
            <a:ext cx="154303" cy="139984"/>
          </a:xfrm>
          <a:prstGeom prst="ellipse">
            <a:avLst/>
          </a:prstGeom>
          <a:solidFill>
            <a:srgbClr val="28BC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F8B906-3317-4387-6851-8FBFE6245D4F}"/>
              </a:ext>
            </a:extLst>
          </p:cNvPr>
          <p:cNvSpPr/>
          <p:nvPr/>
        </p:nvSpPr>
        <p:spPr>
          <a:xfrm>
            <a:off x="3934205" y="2376028"/>
            <a:ext cx="154303" cy="139984"/>
          </a:xfrm>
          <a:prstGeom prst="ellipse">
            <a:avLst/>
          </a:prstGeom>
          <a:solidFill>
            <a:srgbClr val="28BC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2606D8-8FA5-3FA7-B151-7D03F473EDC2}"/>
              </a:ext>
            </a:extLst>
          </p:cNvPr>
          <p:cNvSpPr/>
          <p:nvPr/>
        </p:nvSpPr>
        <p:spPr>
          <a:xfrm>
            <a:off x="3458613" y="2374956"/>
            <a:ext cx="154303" cy="139984"/>
          </a:xfrm>
          <a:prstGeom prst="ellipse">
            <a:avLst/>
          </a:prstGeom>
          <a:solidFill>
            <a:srgbClr val="F6576B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3351BF-C5BE-483F-33F9-8AC91FC3212A}"/>
              </a:ext>
            </a:extLst>
          </p:cNvPr>
          <p:cNvSpPr/>
          <p:nvPr/>
        </p:nvSpPr>
        <p:spPr>
          <a:xfrm>
            <a:off x="4187122" y="2374956"/>
            <a:ext cx="154303" cy="139984"/>
          </a:xfrm>
          <a:prstGeom prst="ellipse">
            <a:avLst/>
          </a:prstGeom>
          <a:solidFill>
            <a:srgbClr val="F6576B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6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4" grpId="0" animBg="1"/>
      <p:bldP spid="6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73D4C55-76C8-6F91-09A8-90C3AB27C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3793585"/>
            <a:ext cx="9692660" cy="27203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TDM-based FOC Controller</a:t>
            </a:r>
            <a:endParaRPr lang="en-IL" sz="3200" dirty="0">
              <a:latin typeface="Georgia" panose="020405020504050203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FC8B3-D410-2952-221A-FED44023B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853337"/>
            <a:ext cx="8126718" cy="289137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3843F9-2CE1-C8D1-5F04-A8759CE3F4CA}"/>
              </a:ext>
            </a:extLst>
          </p:cNvPr>
          <p:cNvCxnSpPr/>
          <p:nvPr/>
        </p:nvCxnSpPr>
        <p:spPr>
          <a:xfrm>
            <a:off x="3688080" y="1960880"/>
            <a:ext cx="955040" cy="17676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C4AC6C3-4CEB-FBAC-9766-521D09518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950" y="735364"/>
            <a:ext cx="7599690" cy="258700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D33C5B-74AB-6AF9-50ED-4E81356A4B38}"/>
              </a:ext>
            </a:extLst>
          </p:cNvPr>
          <p:cNvCxnSpPr>
            <a:cxnSpLocks/>
          </p:cNvCxnSpPr>
          <p:nvPr/>
        </p:nvCxnSpPr>
        <p:spPr>
          <a:xfrm flipH="1" flipV="1">
            <a:off x="7406640" y="3146537"/>
            <a:ext cx="447040" cy="936899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213360" y="589931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Main Block Diagram: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A5FBD83F-D591-A000-487E-BB0E6EBFD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701926"/>
              </p:ext>
            </p:extLst>
          </p:nvPr>
        </p:nvGraphicFramePr>
        <p:xfrm>
          <a:off x="10467609" y="5211806"/>
          <a:ext cx="1297671" cy="879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507960" progId="Equation.DSMT4">
                  <p:embed/>
                </p:oleObj>
              </mc:Choice>
              <mc:Fallback>
                <p:oleObj name="Equation" r:id="rId6" imgW="749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67609" y="5211806"/>
                        <a:ext cx="1297671" cy="879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65C49A3-2D2A-D657-F86C-3876FA178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861145"/>
              </p:ext>
            </p:extLst>
          </p:nvPr>
        </p:nvGraphicFramePr>
        <p:xfrm>
          <a:off x="6178549" y="4051807"/>
          <a:ext cx="469617" cy="558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41200" progId="Equation.DSMT4">
                  <p:embed/>
                </p:oleObj>
              </mc:Choice>
              <mc:Fallback>
                <p:oleObj name="Equation" r:id="rId8" imgW="203040" imgH="2412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A5FBD83F-D591-A000-487E-BB0E6EBFD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78549" y="4051807"/>
                        <a:ext cx="469617" cy="558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9BE5E06-BFDD-0461-63A2-5965D35750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435822"/>
              </p:ext>
            </p:extLst>
          </p:nvPr>
        </p:nvGraphicFramePr>
        <p:xfrm>
          <a:off x="6122988" y="4946650"/>
          <a:ext cx="6461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360" imgH="228600" progId="Equation.DSMT4">
                  <p:embed/>
                </p:oleObj>
              </mc:Choice>
              <mc:Fallback>
                <p:oleObj name="Equation" r:id="rId10" imgW="27936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65C49A3-2D2A-D657-F86C-3876FA178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22988" y="4946650"/>
                        <a:ext cx="646112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E799D5-765B-DE31-20B2-E501755F096E}"/>
              </a:ext>
            </a:extLst>
          </p:cNvPr>
          <p:cNvSpPr txBox="1"/>
          <p:nvPr/>
        </p:nvSpPr>
        <p:spPr>
          <a:xfrm>
            <a:off x="7406640" y="887765"/>
            <a:ext cx="240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Current TDM Loop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0A834-B73B-D35C-F67E-B03DEC81D0F9}"/>
              </a:ext>
            </a:extLst>
          </p:cNvPr>
          <p:cNvSpPr txBox="1"/>
          <p:nvPr/>
        </p:nvSpPr>
        <p:spPr>
          <a:xfrm>
            <a:off x="1059967" y="3678021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Speed PI Loop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D00F37B-E0A5-7878-2F8E-8D8886A1C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05102"/>
              </p:ext>
            </p:extLst>
          </p:nvPr>
        </p:nvGraphicFramePr>
        <p:xfrm>
          <a:off x="196788" y="4036637"/>
          <a:ext cx="4619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41200" progId="Equation.DSMT4">
                  <p:embed/>
                </p:oleObj>
              </mc:Choice>
              <mc:Fallback>
                <p:oleObj name="Equation" r:id="rId12" imgW="266400" imgH="2412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A5FBD83F-D591-A000-487E-BB0E6EBFD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6788" y="4036637"/>
                        <a:ext cx="461963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56C0244-F301-4A72-C753-AC425C81E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065756"/>
              </p:ext>
            </p:extLst>
          </p:nvPr>
        </p:nvGraphicFramePr>
        <p:xfrm>
          <a:off x="249238" y="4595813"/>
          <a:ext cx="3746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228600" progId="Equation.DSMT4">
                  <p:embed/>
                </p:oleObj>
              </mc:Choice>
              <mc:Fallback>
                <p:oleObj name="Equation" r:id="rId14" imgW="21564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D00F37B-E0A5-7878-2F8E-8D8886A1C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9238" y="4595813"/>
                        <a:ext cx="374650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3212F13-8209-EAC8-40E0-14AC2DD8E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191110"/>
              </p:ext>
            </p:extLst>
          </p:nvPr>
        </p:nvGraphicFramePr>
        <p:xfrm>
          <a:off x="7475379" y="1089645"/>
          <a:ext cx="3095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DSMT4">
                  <p:embed/>
                </p:oleObj>
              </mc:Choice>
              <mc:Fallback>
                <p:oleObj name="Equation" r:id="rId16" imgW="177480" imgH="2286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A5FBD83F-D591-A000-487E-BB0E6EBFD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75379" y="1089645"/>
                        <a:ext cx="309562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FD78179-E921-F46C-12C1-ED7B4034EB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737129"/>
              </p:ext>
            </p:extLst>
          </p:nvPr>
        </p:nvGraphicFramePr>
        <p:xfrm>
          <a:off x="7432040" y="1665844"/>
          <a:ext cx="3095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228600" progId="Equation.DSMT4">
                  <p:embed/>
                </p:oleObj>
              </mc:Choice>
              <mc:Fallback>
                <p:oleObj name="Equation" r:id="rId18" imgW="177480" imgH="2286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C3212F13-8209-EAC8-40E0-14AC2DD8E6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432040" y="1665844"/>
                        <a:ext cx="309562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57895B38-1B32-11A5-4D57-BA3B5CD05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236128"/>
              </p:ext>
            </p:extLst>
          </p:nvPr>
        </p:nvGraphicFramePr>
        <p:xfrm>
          <a:off x="7464425" y="2317750"/>
          <a:ext cx="3317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228600" progId="Equation.DSMT4">
                  <p:embed/>
                </p:oleObj>
              </mc:Choice>
              <mc:Fallback>
                <p:oleObj name="Equation" r:id="rId20" imgW="190440" imgH="2286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BFD78179-E921-F46C-12C1-ED7B4034EB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464425" y="2317750"/>
                        <a:ext cx="331788" cy="395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24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73D4C55-76C8-6F91-09A8-90C3AB27C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3793585"/>
            <a:ext cx="9692660" cy="27203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TDM-based FOC Controller</a:t>
            </a:r>
            <a:endParaRPr lang="en-IL" sz="3200" dirty="0">
              <a:latin typeface="Georgia" panose="020405020504050203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FC8B3-D410-2952-221A-FED44023B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853337"/>
            <a:ext cx="8126718" cy="289137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3843F9-2CE1-C8D1-5F04-A8759CE3F4CA}"/>
              </a:ext>
            </a:extLst>
          </p:cNvPr>
          <p:cNvCxnSpPr/>
          <p:nvPr/>
        </p:nvCxnSpPr>
        <p:spPr>
          <a:xfrm>
            <a:off x="3688080" y="1960880"/>
            <a:ext cx="955040" cy="17676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213360" y="589931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Main Block Diagram: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13EA462-1608-BC34-3498-7B2AF42C2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377233"/>
              </p:ext>
            </p:extLst>
          </p:nvPr>
        </p:nvGraphicFramePr>
        <p:xfrm>
          <a:off x="6178549" y="4051807"/>
          <a:ext cx="469617" cy="558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040" imgH="241200" progId="Equation.DSMT4">
                  <p:embed/>
                </p:oleObj>
              </mc:Choice>
              <mc:Fallback>
                <p:oleObj name="Equation" r:id="rId5" imgW="203040" imgH="241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65C49A3-2D2A-D657-F86C-3876FA178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8549" y="4051807"/>
                        <a:ext cx="469617" cy="558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855B347-8345-12CE-5181-8DC74C8B3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554205"/>
              </p:ext>
            </p:extLst>
          </p:nvPr>
        </p:nvGraphicFramePr>
        <p:xfrm>
          <a:off x="6122988" y="4946650"/>
          <a:ext cx="6461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228600" progId="Equation.DSMT4">
                  <p:embed/>
                </p:oleObj>
              </mc:Choice>
              <mc:Fallback>
                <p:oleObj name="Equation" r:id="rId7" imgW="27936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9BE5E06-BFDD-0461-63A2-5965D3575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22988" y="4946650"/>
                        <a:ext cx="646112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27AA807-851E-21B7-485D-4E775F931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251327"/>
              </p:ext>
            </p:extLst>
          </p:nvPr>
        </p:nvGraphicFramePr>
        <p:xfrm>
          <a:off x="196788" y="4036637"/>
          <a:ext cx="4619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D00F37B-E0A5-7878-2F8E-8D8886A1C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6788" y="4036637"/>
                        <a:ext cx="461963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648AC31-1CCB-1624-CAF8-A49EEAC62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281043"/>
              </p:ext>
            </p:extLst>
          </p:nvPr>
        </p:nvGraphicFramePr>
        <p:xfrm>
          <a:off x="249238" y="4595813"/>
          <a:ext cx="3746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5640" imgH="228600" progId="Equation.DSMT4">
                  <p:embed/>
                </p:oleObj>
              </mc:Choice>
              <mc:Fallback>
                <p:oleObj name="Equation" r:id="rId11" imgW="21564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56C0244-F301-4A72-C753-AC425C81E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238" y="4595813"/>
                        <a:ext cx="374650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310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DD03250-15C3-0BBD-AB35-BF9E73FD5E8E}"/>
              </a:ext>
            </a:extLst>
          </p:cNvPr>
          <p:cNvGrpSpPr/>
          <p:nvPr/>
        </p:nvGrpSpPr>
        <p:grpSpPr>
          <a:xfrm>
            <a:off x="311489" y="3535821"/>
            <a:ext cx="5152806" cy="3158085"/>
            <a:chOff x="5346540" y="503703"/>
            <a:chExt cx="5152806" cy="315808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DD2CBA-8AEF-7A8D-56CA-660FE5E8B0C4}"/>
                </a:ext>
              </a:extLst>
            </p:cNvPr>
            <p:cNvGrpSpPr/>
            <p:nvPr/>
          </p:nvGrpSpPr>
          <p:grpSpPr>
            <a:xfrm>
              <a:off x="5346540" y="503703"/>
              <a:ext cx="4821938" cy="3158085"/>
              <a:chOff x="5346540" y="503703"/>
              <a:chExt cx="4821938" cy="315808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840B9D-551A-A65C-6DC1-4CCD148E92EB}"/>
                  </a:ext>
                </a:extLst>
              </p:cNvPr>
              <p:cNvSpPr txBox="1"/>
              <p:nvPr/>
            </p:nvSpPr>
            <p:spPr>
              <a:xfrm>
                <a:off x="5346540" y="503703"/>
                <a:ext cx="3474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</a:rPr>
                  <a:t>RL Load test (</a:t>
                </a:r>
                <a:r>
                  <a:rPr lang="en-US" b="1" dirty="0" err="1">
                    <a:solidFill>
                      <a:srgbClr val="FF00FF"/>
                    </a:solidFill>
                  </a:rPr>
                  <a:t>Ecm</a:t>
                </a:r>
                <a:r>
                  <a:rPr lang="en-US" b="1" dirty="0">
                    <a:solidFill>
                      <a:srgbClr val="FF00FF"/>
                    </a:solidFill>
                  </a:rPr>
                  <a:t> = 0</a:t>
                </a:r>
                <a:r>
                  <a:rPr lang="en-US" b="1" dirty="0">
                    <a:solidFill>
                      <a:schemeClr val="accent1"/>
                    </a:solidFill>
                  </a:rPr>
                  <a:t>):</a:t>
                </a:r>
                <a:endParaRPr lang="en-IL" b="1" dirty="0"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4988DA5-91A4-CA93-00F4-0BC071853D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46540" y="768626"/>
                <a:ext cx="4821938" cy="2893162"/>
              </a:xfrm>
              <a:prstGeom prst="rect">
                <a:avLst/>
              </a:prstGeom>
            </p:spPr>
          </p:pic>
          <p:graphicFrame>
            <p:nvGraphicFramePr>
              <p:cNvPr id="20" name="Object 19">
                <a:extLst>
                  <a:ext uri="{FF2B5EF4-FFF2-40B4-BE49-F238E27FC236}">
                    <a16:creationId xmlns:a16="http://schemas.microsoft.com/office/drawing/2014/main" id="{DEDCD1AB-9144-12C7-F76B-F2DAB1FC41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8225040"/>
                  </p:ext>
                </p:extLst>
              </p:nvPr>
            </p:nvGraphicFramePr>
            <p:xfrm>
              <a:off x="6026066" y="822506"/>
              <a:ext cx="324876" cy="5847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6720" imgH="228600" progId="Equation.DSMT4">
                      <p:embed/>
                    </p:oleObj>
                  </mc:Choice>
                  <mc:Fallback>
                    <p:oleObj name="Equation" r:id="rId4" imgW="1267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6026066" y="822506"/>
                            <a:ext cx="324876" cy="58477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0">
                <a:extLst>
                  <a:ext uri="{FF2B5EF4-FFF2-40B4-BE49-F238E27FC236}">
                    <a16:creationId xmlns:a16="http://schemas.microsoft.com/office/drawing/2014/main" id="{75B33C63-F950-0839-952E-75A7FC1216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3963848"/>
                  </p:ext>
                </p:extLst>
              </p:nvPr>
            </p:nvGraphicFramePr>
            <p:xfrm>
              <a:off x="6759024" y="822506"/>
              <a:ext cx="324876" cy="5847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26720" imgH="228600" progId="Equation.DSMT4">
                      <p:embed/>
                    </p:oleObj>
                  </mc:Choice>
                  <mc:Fallback>
                    <p:oleObj name="Equation" r:id="rId6" imgW="126720" imgH="228600" progId="Equation.DSMT4">
                      <p:embed/>
                      <p:pic>
                        <p:nvPicPr>
                          <p:cNvPr id="20" name="Object 19">
                            <a:extLst>
                              <a:ext uri="{FF2B5EF4-FFF2-40B4-BE49-F238E27FC236}">
                                <a16:creationId xmlns:a16="http://schemas.microsoft.com/office/drawing/2014/main" id="{DEDCD1AB-9144-12C7-F76B-F2DAB1FC41C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6759024" y="822506"/>
                            <a:ext cx="324876" cy="58477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2">
                <a:extLst>
                  <a:ext uri="{FF2B5EF4-FFF2-40B4-BE49-F238E27FC236}">
                    <a16:creationId xmlns:a16="http://schemas.microsoft.com/office/drawing/2014/main" id="{A03A4698-BE9D-61FE-9A1C-358A1AF72D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30766961"/>
                  </p:ext>
                </p:extLst>
              </p:nvPr>
            </p:nvGraphicFramePr>
            <p:xfrm>
              <a:off x="7484570" y="822506"/>
              <a:ext cx="324876" cy="5847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26720" imgH="228600" progId="Equation.DSMT4">
                      <p:embed/>
                    </p:oleObj>
                  </mc:Choice>
                  <mc:Fallback>
                    <p:oleObj name="Equation" r:id="rId8" imgW="126720" imgH="228600" progId="Equation.DSMT4">
                      <p:embed/>
                      <p:pic>
                        <p:nvPicPr>
                          <p:cNvPr id="21" name="Object 20">
                            <a:extLst>
                              <a:ext uri="{FF2B5EF4-FFF2-40B4-BE49-F238E27FC236}">
                                <a16:creationId xmlns:a16="http://schemas.microsoft.com/office/drawing/2014/main" id="{75B33C63-F950-0839-952E-75A7FC12160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7484570" y="822506"/>
                            <a:ext cx="324876" cy="58477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9A69871-06EB-2FC5-04A1-C353BA51D1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7294" y="1355633"/>
              <a:ext cx="435668" cy="149660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7" name="Object 26">
              <a:extLst>
                <a:ext uri="{FF2B5EF4-FFF2-40B4-BE49-F238E27FC236}">
                  <a16:creationId xmlns:a16="http://schemas.microsoft.com/office/drawing/2014/main" id="{486E5624-6FA9-9494-42B5-6C0D45536F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208288"/>
                </p:ext>
              </p:extLst>
            </p:nvPr>
          </p:nvGraphicFramePr>
          <p:xfrm>
            <a:off x="10077071" y="832681"/>
            <a:ext cx="422275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228600" progId="Equation.DSMT4">
                    <p:embed/>
                  </p:oleObj>
                </mc:Choice>
                <mc:Fallback>
                  <p:oleObj name="Equation" r:id="rId10" imgW="164880" imgH="228600" progId="Equation.DSMT4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A03A4698-BE9D-61FE-9A1C-358A1AF72D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077071" y="832681"/>
                          <a:ext cx="422275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AEAACD6-C232-4BC8-38EB-7C62A82C154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98" y="746419"/>
            <a:ext cx="4821938" cy="289316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Validation and Simulation Results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450737" y="540213"/>
            <a:ext cx="449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Non-sinusoidal currents test (</a:t>
            </a:r>
            <a:r>
              <a:rPr lang="en-US" b="1" dirty="0" err="1">
                <a:solidFill>
                  <a:srgbClr val="FF00FF"/>
                </a:solidFill>
              </a:rPr>
              <a:t>Ecm</a:t>
            </a:r>
            <a:r>
              <a:rPr lang="en-US" b="1" dirty="0">
                <a:solidFill>
                  <a:srgbClr val="FF00FF"/>
                </a:solidFill>
              </a:rPr>
              <a:t> = 0</a:t>
            </a:r>
            <a:r>
              <a:rPr lang="en-US" b="1" dirty="0">
                <a:solidFill>
                  <a:schemeClr val="accent1"/>
                </a:solidFill>
              </a:rPr>
              <a:t>):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1E4E776-BE90-E24E-CB88-98C2F8847A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709916"/>
              </p:ext>
            </p:extLst>
          </p:nvPr>
        </p:nvGraphicFramePr>
        <p:xfrm>
          <a:off x="819347" y="2241934"/>
          <a:ext cx="324876" cy="58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720" imgH="228600" progId="Equation.DSMT4">
                  <p:embed/>
                </p:oleObj>
              </mc:Choice>
              <mc:Fallback>
                <p:oleObj name="Equation" r:id="rId13" imgW="126720" imgH="2286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DEDCD1AB-9144-12C7-F76B-F2DAB1FC41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19347" y="2241934"/>
                        <a:ext cx="324876" cy="584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D3FD2D8A-0845-8B59-1186-C0FC9224D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71402"/>
              </p:ext>
            </p:extLst>
          </p:nvPr>
        </p:nvGraphicFramePr>
        <p:xfrm>
          <a:off x="1980270" y="2115503"/>
          <a:ext cx="324876" cy="58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0" imgH="228600" progId="Equation.DSMT4">
                  <p:embed/>
                </p:oleObj>
              </mc:Choice>
              <mc:Fallback>
                <p:oleObj name="Equation" r:id="rId15" imgW="126720" imgH="22860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5B33C63-F950-0839-952E-75A7FC1216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80270" y="2115503"/>
                        <a:ext cx="324876" cy="584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87CBA163-D206-E1FD-70FB-0947CAE1C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62148"/>
              </p:ext>
            </p:extLst>
          </p:nvPr>
        </p:nvGraphicFramePr>
        <p:xfrm>
          <a:off x="3200471" y="2118173"/>
          <a:ext cx="324876" cy="58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6720" imgH="228600" progId="Equation.DSMT4">
                  <p:embed/>
                </p:oleObj>
              </mc:Choice>
              <mc:Fallback>
                <p:oleObj name="Equation" r:id="rId17" imgW="126720" imgH="22860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A03A4698-BE9D-61FE-9A1C-358A1AF7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00471" y="2118173"/>
                        <a:ext cx="324876" cy="584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F05095B4-AD4B-03E8-3E58-409C4FA05CC6}"/>
              </a:ext>
            </a:extLst>
          </p:cNvPr>
          <p:cNvGrpSpPr/>
          <p:nvPr/>
        </p:nvGrpSpPr>
        <p:grpSpPr>
          <a:xfrm>
            <a:off x="5393357" y="3584653"/>
            <a:ext cx="4637494" cy="2923445"/>
            <a:chOff x="286746" y="3663109"/>
            <a:chExt cx="4637494" cy="292344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C30D1BF-493F-F7EC-C2E5-D3807246A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6746" y="3971496"/>
              <a:ext cx="4637494" cy="261505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83AEC2-5518-79C3-307A-FEED6DF5051F}"/>
                </a:ext>
              </a:extLst>
            </p:cNvPr>
            <p:cNvSpPr txBox="1"/>
            <p:nvPr/>
          </p:nvSpPr>
          <p:spPr>
            <a:xfrm>
              <a:off x="384557" y="3663109"/>
              <a:ext cx="42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Current </a:t>
              </a:r>
              <a:r>
                <a:rPr lang="en-US" b="1" dirty="0">
                  <a:solidFill>
                    <a:srgbClr val="FF00FF"/>
                  </a:solidFill>
                </a:rPr>
                <a:t>THD</a:t>
              </a:r>
              <a:r>
                <a:rPr lang="en-US" b="1" dirty="0">
                  <a:solidFill>
                    <a:schemeClr val="accent1"/>
                  </a:solidFill>
                </a:rPr>
                <a:t> Comparison (</a:t>
              </a:r>
              <a:r>
                <a:rPr lang="en-US" b="1" dirty="0">
                  <a:solidFill>
                    <a:srgbClr val="FF00FF"/>
                  </a:solidFill>
                </a:rPr>
                <a:t>fmax = 5kHz</a:t>
              </a:r>
              <a:r>
                <a:rPr lang="en-US" b="1" dirty="0">
                  <a:solidFill>
                    <a:schemeClr val="accent1"/>
                  </a:solidFill>
                </a:rPr>
                <a:t>)</a:t>
              </a:r>
              <a:endParaRPr lang="en-IL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6B3847-E978-C216-D47B-62A1267D424B}"/>
              </a:ext>
            </a:extLst>
          </p:cNvPr>
          <p:cNvGrpSpPr/>
          <p:nvPr/>
        </p:nvGrpSpPr>
        <p:grpSpPr>
          <a:xfrm>
            <a:off x="5434363" y="622513"/>
            <a:ext cx="5685886" cy="2910590"/>
            <a:chOff x="5305354" y="3578067"/>
            <a:chExt cx="5685886" cy="2910590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0E2F842-2FD4-B1BA-777A-7453A8699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5354" y="3740462"/>
              <a:ext cx="4580325" cy="2748195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97C53B8-C72F-05F6-4E1F-8A24919C7425}"/>
                </a:ext>
              </a:extLst>
            </p:cNvPr>
            <p:cNvCxnSpPr/>
            <p:nvPr/>
          </p:nvCxnSpPr>
          <p:spPr>
            <a:xfrm flipH="1">
              <a:off x="9540239" y="4626997"/>
              <a:ext cx="690880" cy="4165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35" name="Object 34">
              <a:extLst>
                <a:ext uri="{FF2B5EF4-FFF2-40B4-BE49-F238E27FC236}">
                  <a16:creationId xmlns:a16="http://schemas.microsoft.com/office/drawing/2014/main" id="{F8E397EA-C54B-793D-EC80-E32E6DFDF6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5159658"/>
                </p:ext>
              </p:extLst>
            </p:nvPr>
          </p:nvGraphicFramePr>
          <p:xfrm>
            <a:off x="10252237" y="4219040"/>
            <a:ext cx="422275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228600" progId="Equation.DSMT4">
                    <p:embed/>
                  </p:oleObj>
                </mc:Choice>
                <mc:Fallback>
                  <p:oleObj name="Equation" r:id="rId10" imgW="164880" imgH="228600" progId="Equation.DSMT4">
                    <p:embed/>
                    <p:pic>
                      <p:nvPicPr>
                        <p:cNvPr id="27" name="Object 26">
                          <a:extLst>
                            <a:ext uri="{FF2B5EF4-FFF2-40B4-BE49-F238E27FC236}">
                              <a16:creationId xmlns:a16="http://schemas.microsoft.com/office/drawing/2014/main" id="{486E5624-6FA9-9494-42B5-6C0D45536F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252237" y="4219040"/>
                          <a:ext cx="422275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>
              <a:extLst>
                <a:ext uri="{FF2B5EF4-FFF2-40B4-BE49-F238E27FC236}">
                  <a16:creationId xmlns:a16="http://schemas.microsoft.com/office/drawing/2014/main" id="{D8F89F4B-6C28-D6A2-7BC9-3AE12842B6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7070054"/>
                </p:ext>
              </p:extLst>
            </p:nvPr>
          </p:nvGraphicFramePr>
          <p:xfrm>
            <a:off x="5986448" y="4023796"/>
            <a:ext cx="324876" cy="584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228600" progId="Equation.DSMT4">
                    <p:embed/>
                  </p:oleObj>
                </mc:Choice>
                <mc:Fallback>
                  <p:oleObj name="Equation" r:id="rId4" imgW="126720" imgH="228600" progId="Equation.DSMT4">
                    <p:embed/>
                    <p:pic>
                      <p:nvPicPr>
                        <p:cNvPr id="20" name="Object 19">
                          <a:extLst>
                            <a:ext uri="{FF2B5EF4-FFF2-40B4-BE49-F238E27FC236}">
                              <a16:creationId xmlns:a16="http://schemas.microsoft.com/office/drawing/2014/main" id="{DEDCD1AB-9144-12C7-F76B-F2DAB1FC41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86448" y="4023796"/>
                          <a:ext cx="324876" cy="5847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>
              <a:extLst>
                <a:ext uri="{FF2B5EF4-FFF2-40B4-BE49-F238E27FC236}">
                  <a16:creationId xmlns:a16="http://schemas.microsoft.com/office/drawing/2014/main" id="{C537898D-DD67-B5FE-AF1B-794529E92C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291660"/>
                </p:ext>
              </p:extLst>
            </p:nvPr>
          </p:nvGraphicFramePr>
          <p:xfrm>
            <a:off x="6695062" y="3971496"/>
            <a:ext cx="324876" cy="584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228600" progId="Equation.DSMT4">
                    <p:embed/>
                  </p:oleObj>
                </mc:Choice>
                <mc:Fallback>
                  <p:oleObj name="Equation" r:id="rId6" imgW="126720" imgH="228600" progId="Equation.DSMT4">
                    <p:embed/>
                    <p:pic>
                      <p:nvPicPr>
                        <p:cNvPr id="21" name="Object 20">
                          <a:extLst>
                            <a:ext uri="{FF2B5EF4-FFF2-40B4-BE49-F238E27FC236}">
                              <a16:creationId xmlns:a16="http://schemas.microsoft.com/office/drawing/2014/main" id="{75B33C63-F950-0839-952E-75A7FC1216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695062" y="3971496"/>
                          <a:ext cx="324876" cy="5847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7">
              <a:extLst>
                <a:ext uri="{FF2B5EF4-FFF2-40B4-BE49-F238E27FC236}">
                  <a16:creationId xmlns:a16="http://schemas.microsoft.com/office/drawing/2014/main" id="{0E10F2D6-F285-7BF6-5A6A-E41B3BA08F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388585"/>
                </p:ext>
              </p:extLst>
            </p:nvPr>
          </p:nvGraphicFramePr>
          <p:xfrm>
            <a:off x="7344941" y="3996196"/>
            <a:ext cx="324876" cy="584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228600" progId="Equation.DSMT4">
                    <p:embed/>
                  </p:oleObj>
                </mc:Choice>
                <mc:Fallback>
                  <p:oleObj name="Equation" r:id="rId8" imgW="126720" imgH="228600" progId="Equation.DSMT4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A03A4698-BE9D-61FE-9A1C-358A1AF72D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344941" y="3996196"/>
                          <a:ext cx="324876" cy="5847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BDF2933-C4E7-FA9A-D2DE-34C7FFC608D7}"/>
                </a:ext>
              </a:extLst>
            </p:cNvPr>
            <p:cNvSpPr txBox="1"/>
            <p:nvPr/>
          </p:nvSpPr>
          <p:spPr>
            <a:xfrm>
              <a:off x="5503954" y="3578067"/>
              <a:ext cx="5487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Current THD RLE load (</a:t>
              </a:r>
              <a:r>
                <a:rPr lang="en-US" b="1" dirty="0" err="1">
                  <a:solidFill>
                    <a:srgbClr val="FF00FF"/>
                  </a:solidFill>
                </a:rPr>
                <a:t>Ecm</a:t>
              </a:r>
              <a:r>
                <a:rPr lang="en-US" b="1" dirty="0">
                  <a:solidFill>
                    <a:srgbClr val="FF00FF"/>
                  </a:solidFill>
                </a:rPr>
                <a:t> = 0.2Vdc</a:t>
              </a:r>
              <a:r>
                <a:rPr lang="en-US" b="1" dirty="0">
                  <a:solidFill>
                    <a:schemeClr val="accent1"/>
                  </a:solidFill>
                </a:rPr>
                <a:t>)</a:t>
              </a:r>
              <a:endParaRPr lang="en-IL" b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BC4B49D-3A29-0BB5-FE56-83C837AF385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87039" y="2973679"/>
            <a:ext cx="1983463" cy="1272801"/>
          </a:xfrm>
          <a:prstGeom prst="rect">
            <a:avLst/>
          </a:prstGeom>
        </p:spPr>
      </p:pic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02BA3F36-F957-44C3-226F-328D3446A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380904"/>
              </p:ext>
            </p:extLst>
          </p:nvPr>
        </p:nvGraphicFramePr>
        <p:xfrm>
          <a:off x="10030851" y="2082099"/>
          <a:ext cx="162083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31560" imgH="583920" progId="Equation.DSMT4">
                  <p:embed/>
                </p:oleObj>
              </mc:Choice>
              <mc:Fallback>
                <p:oleObj name="Equation" r:id="rId22" imgW="1231560" imgH="58392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486E5624-6FA9-9494-42B5-6C0D45536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030851" y="2082099"/>
                        <a:ext cx="1620837" cy="766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2CBA404-A35C-A83D-EB0A-6F0956613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802183"/>
              </p:ext>
            </p:extLst>
          </p:nvPr>
        </p:nvGraphicFramePr>
        <p:xfrm>
          <a:off x="4797640" y="1172220"/>
          <a:ext cx="469617" cy="558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3040" imgH="241200" progId="Equation.DSMT4">
                  <p:embed/>
                </p:oleObj>
              </mc:Choice>
              <mc:Fallback>
                <p:oleObj name="Equation" r:id="rId24" imgW="203040" imgH="241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65C49A3-2D2A-D657-F86C-3876FA178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797640" y="1172220"/>
                        <a:ext cx="469617" cy="558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A61C9E2-FF1F-F01B-62B6-1FF2A60F2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410587"/>
              </p:ext>
            </p:extLst>
          </p:nvPr>
        </p:nvGraphicFramePr>
        <p:xfrm>
          <a:off x="4793959" y="2491306"/>
          <a:ext cx="6461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360" imgH="228600" progId="Equation.DSMT4">
                  <p:embed/>
                </p:oleObj>
              </mc:Choice>
              <mc:Fallback>
                <p:oleObj name="Equation" r:id="rId26" imgW="27936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9BE5E06-BFDD-0461-63A2-5965D3575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793959" y="2491306"/>
                        <a:ext cx="646112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F7B5EB7-926E-FCB7-0F87-7D3E33214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115344"/>
              </p:ext>
            </p:extLst>
          </p:nvPr>
        </p:nvGraphicFramePr>
        <p:xfrm>
          <a:off x="10747368" y="648073"/>
          <a:ext cx="1314055" cy="88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49160" imgH="507960" progId="Equation.DSMT4">
                  <p:embed/>
                </p:oleObj>
              </mc:Choice>
              <mc:Fallback>
                <p:oleObj name="Equation" r:id="rId28" imgW="749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747368" y="648073"/>
                        <a:ext cx="1314055" cy="888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3C813D-4C9E-25C7-0133-0FC2DB278A70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7712104" y="3893040"/>
            <a:ext cx="0" cy="212450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569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00C0BB-ACB4-1975-F240-D03D4C4E02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84" y="684375"/>
            <a:ext cx="9580653" cy="574839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80A82E-D09A-40AC-858D-F39F4F106684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Validation and Simulation Results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158842" y="499709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PMSM Control test:</a:t>
            </a:r>
            <a:endParaRPr lang="en-IL" b="1" dirty="0">
              <a:solidFill>
                <a:schemeClr val="accent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A69871-06EB-2FC5-04A1-C353BA51D1B8}"/>
              </a:ext>
            </a:extLst>
          </p:cNvPr>
          <p:cNvCxnSpPr/>
          <p:nvPr/>
        </p:nvCxnSpPr>
        <p:spPr>
          <a:xfrm flipH="1">
            <a:off x="9221395" y="3110512"/>
            <a:ext cx="690880" cy="4165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DEDCD1AB-9144-12C7-F76B-F2DAB1FC4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297002"/>
              </p:ext>
            </p:extLst>
          </p:nvPr>
        </p:nvGraphicFramePr>
        <p:xfrm>
          <a:off x="1224612" y="2608783"/>
          <a:ext cx="324876" cy="58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228600" progId="Equation.DSMT4">
                  <p:embed/>
                </p:oleObj>
              </mc:Choice>
              <mc:Fallback>
                <p:oleObj name="Equation" r:id="rId4" imgW="126720" imgH="2286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DEDCD1AB-9144-12C7-F76B-F2DAB1FC41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4612" y="2608783"/>
                        <a:ext cx="324876" cy="584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5B33C63-F950-0839-952E-75A7FC121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049976"/>
              </p:ext>
            </p:extLst>
          </p:nvPr>
        </p:nvGraphicFramePr>
        <p:xfrm>
          <a:off x="1549488" y="2617520"/>
          <a:ext cx="324876" cy="58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228600" progId="Equation.DSMT4">
                  <p:embed/>
                </p:oleObj>
              </mc:Choice>
              <mc:Fallback>
                <p:oleObj name="Equation" r:id="rId6" imgW="126720" imgH="22860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5B33C63-F950-0839-952E-75A7FC1216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49488" y="2617520"/>
                        <a:ext cx="324876" cy="584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A03A4698-BE9D-61FE-9A1C-358A1AF72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409332"/>
              </p:ext>
            </p:extLst>
          </p:nvPr>
        </p:nvGraphicFramePr>
        <p:xfrm>
          <a:off x="1874364" y="2626257"/>
          <a:ext cx="324876" cy="58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228600" progId="Equation.DSMT4">
                  <p:embed/>
                </p:oleObj>
              </mc:Choice>
              <mc:Fallback>
                <p:oleObj name="Equation" r:id="rId8" imgW="126720" imgH="22860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A03A4698-BE9D-61FE-9A1C-358A1AF7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74364" y="2626257"/>
                        <a:ext cx="324876" cy="584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486E5624-6FA9-9494-42B5-6C0D45536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537166"/>
              </p:ext>
            </p:extLst>
          </p:nvPr>
        </p:nvGraphicFramePr>
        <p:xfrm>
          <a:off x="9912275" y="2734592"/>
          <a:ext cx="4222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28600" progId="Equation.DSMT4">
                  <p:embed/>
                </p:oleObj>
              </mc:Choice>
              <mc:Fallback>
                <p:oleObj name="Equation" r:id="rId10" imgW="164880" imgH="2286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486E5624-6FA9-9494-42B5-6C0D45536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12275" y="2734592"/>
                        <a:ext cx="42227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041AD8D-0D5B-7574-C2A1-46D1CF780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686913"/>
              </p:ext>
            </p:extLst>
          </p:nvPr>
        </p:nvGraphicFramePr>
        <p:xfrm>
          <a:off x="10334526" y="869041"/>
          <a:ext cx="1548620" cy="281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1777680" progId="Equation.DSMT4">
                  <p:embed/>
                </p:oleObj>
              </mc:Choice>
              <mc:Fallback>
                <p:oleObj name="Equation" r:id="rId12" imgW="977760" imgH="1777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334526" y="869041"/>
                        <a:ext cx="1548620" cy="2815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275249-3866-8DA0-508C-98784A58A882}"/>
              </a:ext>
            </a:extLst>
          </p:cNvPr>
          <p:cNvCxnSpPr>
            <a:cxnSpLocks/>
          </p:cNvCxnSpPr>
          <p:nvPr/>
        </p:nvCxnSpPr>
        <p:spPr>
          <a:xfrm flipH="1" flipV="1">
            <a:off x="2667462" y="1509153"/>
            <a:ext cx="288389" cy="5366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73B381-F332-75C4-279B-C5A464310472}"/>
              </a:ext>
            </a:extLst>
          </p:cNvPr>
          <p:cNvCxnSpPr>
            <a:cxnSpLocks/>
          </p:cNvCxnSpPr>
          <p:nvPr/>
        </p:nvCxnSpPr>
        <p:spPr>
          <a:xfrm>
            <a:off x="2955851" y="2045832"/>
            <a:ext cx="1611814" cy="1858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7A775D-6B2E-7EDC-F968-0957F11BCE17}"/>
              </a:ext>
            </a:extLst>
          </p:cNvPr>
          <p:cNvSpPr txBox="1"/>
          <p:nvPr/>
        </p:nvSpPr>
        <p:spPr>
          <a:xfrm>
            <a:off x="748710" y="1975150"/>
            <a:ext cx="28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Speed Command Change</a:t>
            </a:r>
            <a:endParaRPr lang="en-IL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0DE7F1-F78A-8C47-2282-CC73902F7925}"/>
              </a:ext>
            </a:extLst>
          </p:cNvPr>
          <p:cNvSpPr txBox="1"/>
          <p:nvPr/>
        </p:nvSpPr>
        <p:spPr>
          <a:xfrm>
            <a:off x="9929308" y="5261980"/>
            <a:ext cx="1953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Load Torque Change</a:t>
            </a:r>
            <a:endParaRPr lang="en-IL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A57A01F-9F83-D746-9394-AF1931CCE0B9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8349525" y="5116579"/>
            <a:ext cx="1579783" cy="4685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4A328DF-4190-B09F-2A0A-E0BADD480BE3}"/>
              </a:ext>
            </a:extLst>
          </p:cNvPr>
          <p:cNvSpPr txBox="1"/>
          <p:nvPr/>
        </p:nvSpPr>
        <p:spPr>
          <a:xfrm>
            <a:off x="10068978" y="4247577"/>
            <a:ext cx="195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Low Torque Ripple</a:t>
            </a:r>
            <a:endParaRPr lang="en-IL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DBDA40-F8FF-E799-E41E-F602FB193932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9221395" y="4432243"/>
            <a:ext cx="847583" cy="32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484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FFCB029-0C29-2191-7BB0-9C53663F6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75" y="3900504"/>
            <a:ext cx="4724400" cy="2834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D6311A-1F5D-4264-62D6-4A1609F738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54" y="861337"/>
            <a:ext cx="4755702" cy="28534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Validation and Simulation Results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583314" y="585894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Leg Voltages and Cycle averages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041AD8D-0D5B-7574-C2A1-46D1CF780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09734"/>
              </p:ext>
            </p:extLst>
          </p:nvPr>
        </p:nvGraphicFramePr>
        <p:xfrm>
          <a:off x="10200631" y="2560593"/>
          <a:ext cx="1447800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888840" progId="Equation.DSMT4">
                  <p:embed/>
                </p:oleObj>
              </mc:Choice>
              <mc:Fallback>
                <p:oleObj name="Equation" r:id="rId5" imgW="914400" imgH="8888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041AD8D-0D5B-7574-C2A1-46D1CF780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00631" y="2560593"/>
                        <a:ext cx="1447800" cy="14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D4B959D1-50E9-9F57-28FD-125535317F5C}"/>
              </a:ext>
            </a:extLst>
          </p:cNvPr>
          <p:cNvGrpSpPr/>
          <p:nvPr/>
        </p:nvGrpSpPr>
        <p:grpSpPr>
          <a:xfrm>
            <a:off x="5077956" y="718581"/>
            <a:ext cx="4692535" cy="3006218"/>
            <a:chOff x="878697" y="3714758"/>
            <a:chExt cx="4692535" cy="30062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9C926B0-AB3A-7D66-0810-E1C5802C5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697" y="3905455"/>
              <a:ext cx="4692535" cy="281552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1E960F-66A4-A23B-7E36-BDEAB371FF38}"/>
                </a:ext>
              </a:extLst>
            </p:cNvPr>
            <p:cNvSpPr txBox="1"/>
            <p:nvPr/>
          </p:nvSpPr>
          <p:spPr>
            <a:xfrm>
              <a:off x="1124380" y="3714758"/>
              <a:ext cx="3474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Phase Currents</a:t>
              </a:r>
              <a:endParaRPr lang="en-IL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C382457-E01E-27BE-F1A1-AE3E3C80E0A7}"/>
              </a:ext>
            </a:extLst>
          </p:cNvPr>
          <p:cNvSpPr txBox="1"/>
          <p:nvPr/>
        </p:nvSpPr>
        <p:spPr>
          <a:xfrm>
            <a:off x="524602" y="3660519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Phase Voltages</a:t>
            </a:r>
            <a:endParaRPr lang="en-IL" b="1" dirty="0">
              <a:solidFill>
                <a:schemeClr val="accent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761BAA5-4264-B602-CD01-95A4C74961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173" y="3990201"/>
            <a:ext cx="5262460" cy="2017159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815DF6D-9BD1-76F8-F710-9BF54A6979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88936"/>
              </p:ext>
            </p:extLst>
          </p:nvPr>
        </p:nvGraphicFramePr>
        <p:xfrm>
          <a:off x="10200631" y="1527563"/>
          <a:ext cx="12969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97199" imgH="879659" progId="Equation.DSMT4">
                  <p:embed/>
                </p:oleObj>
              </mc:Choice>
              <mc:Fallback>
                <p:oleObj name="Equation" r:id="rId9" imgW="1297199" imgH="8796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200631" y="1527563"/>
                        <a:ext cx="1296987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76D6F9-F0DD-C5A3-C303-356AB8D0E713}"/>
              </a:ext>
            </a:extLst>
          </p:cNvPr>
          <p:cNvSpPr txBox="1"/>
          <p:nvPr/>
        </p:nvSpPr>
        <p:spPr>
          <a:xfrm>
            <a:off x="5724018" y="6088096"/>
            <a:ext cx="472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Full DC Source Utilization (Ma = 1.0)</a:t>
            </a:r>
            <a:endParaRPr lang="en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3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Validation and Simulation Results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3469820" y="605757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Max Switching Frequency Impact</a:t>
            </a:r>
            <a:endParaRPr lang="en-IL" b="1" dirty="0">
              <a:solidFill>
                <a:schemeClr val="accent1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041AD8D-0D5B-7574-C2A1-46D1CF780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776765"/>
              </p:ext>
            </p:extLst>
          </p:nvPr>
        </p:nvGraphicFramePr>
        <p:xfrm>
          <a:off x="1902945" y="3944658"/>
          <a:ext cx="1306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279360" progId="Equation.DSMT4">
                  <p:embed/>
                </p:oleObj>
              </mc:Choice>
              <mc:Fallback>
                <p:oleObj name="Equation" r:id="rId3" imgW="825480" imgH="2793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041AD8D-0D5B-7574-C2A1-46D1CF780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2945" y="3944658"/>
                        <a:ext cx="1306513" cy="44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3410348B-9622-4AD4-2697-A209CBC1F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466" y="4782677"/>
            <a:ext cx="2668034" cy="17120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D52E42-3F07-C1DF-CE5C-E19319C6E8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809" y="4976297"/>
            <a:ext cx="2454191" cy="147251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64C61CC-5D47-DCFB-76FE-1EB3A7FDE790}"/>
              </a:ext>
            </a:extLst>
          </p:cNvPr>
          <p:cNvSpPr txBox="1"/>
          <p:nvPr/>
        </p:nvSpPr>
        <p:spPr>
          <a:xfrm>
            <a:off x="5375283" y="4556187"/>
            <a:ext cx="230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Back EMF with CMV</a:t>
            </a:r>
            <a:endParaRPr lang="en-IL" b="1" dirty="0">
              <a:solidFill>
                <a:schemeClr val="accent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761BAA5-4264-B602-CD01-95A4C7496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977" y="5128207"/>
            <a:ext cx="3023481" cy="1158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86C7A6-0927-DC28-6038-60D6F0F93AA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77" y="1099053"/>
            <a:ext cx="4710742" cy="2826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21B2BA-C79B-0BEC-968C-74B008A2D6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719" y="1099053"/>
            <a:ext cx="4644443" cy="2786666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81EA23D-A188-7FD9-35AD-835E8ECAD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816747"/>
              </p:ext>
            </p:extLst>
          </p:nvPr>
        </p:nvGraphicFramePr>
        <p:xfrm>
          <a:off x="6670316" y="3925888"/>
          <a:ext cx="1447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79360" progId="Equation.DSMT4">
                  <p:embed/>
                </p:oleObj>
              </mc:Choice>
              <mc:Fallback>
                <p:oleObj name="Equation" r:id="rId10" imgW="914400" imgH="2793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041AD8D-0D5B-7574-C2A1-46D1CF780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70316" y="3925888"/>
                        <a:ext cx="1447800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F68D1FD-7131-0A13-CA3B-4817CA8BB3F8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3BAFB6E-DC01-24E2-CB8B-7C3FF2684B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849469"/>
              </p:ext>
            </p:extLst>
          </p:nvPr>
        </p:nvGraphicFramePr>
        <p:xfrm>
          <a:off x="9891713" y="3055666"/>
          <a:ext cx="1609929" cy="109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7199" imgH="879659" progId="Equation.DSMT4">
                  <p:embed/>
                </p:oleObj>
              </mc:Choice>
              <mc:Fallback>
                <p:oleObj name="Equation" r:id="rId12" imgW="1297199" imgH="8796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891713" y="3055666"/>
                        <a:ext cx="1609929" cy="109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3267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465E86-B2B5-CEFC-AE67-D8CCBC5B2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02" y="737864"/>
            <a:ext cx="3941326" cy="29287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Validation and Simulation Results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757904" y="571091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3D-SVM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8D1FD-7131-0A13-CA3B-4817CA8BB3F8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24181A-9997-6BE6-08C6-BCA481415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06" y="3883306"/>
            <a:ext cx="4358315" cy="2614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E8A307-E1E0-46AD-E22B-71EC5D9BBBE1}"/>
              </a:ext>
            </a:extLst>
          </p:cNvPr>
          <p:cNvSpPr txBox="1"/>
          <p:nvPr/>
        </p:nvSpPr>
        <p:spPr>
          <a:xfrm>
            <a:off x="640946" y="3624087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TDM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3556D-2F04-0EB7-3AF5-2E6240AED7EE}"/>
              </a:ext>
            </a:extLst>
          </p:cNvPr>
          <p:cNvSpPr txBox="1"/>
          <p:nvPr/>
        </p:nvSpPr>
        <p:spPr>
          <a:xfrm>
            <a:off x="4915235" y="3358124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TDM</a:t>
            </a:r>
            <a:endParaRPr lang="en-IL" b="1" dirty="0">
              <a:solidFill>
                <a:schemeClr val="accent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B0CDB6-275B-0B68-CBB7-E83F8DC55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627" y="819245"/>
            <a:ext cx="2494717" cy="39036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07A5E2-ECB9-CB40-EA04-2A66DC0286D9}"/>
              </a:ext>
            </a:extLst>
          </p:cNvPr>
          <p:cNvSpPr txBox="1"/>
          <p:nvPr/>
        </p:nvSpPr>
        <p:spPr>
          <a:xfrm>
            <a:off x="7064635" y="582668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Virtual Vectors SVM</a:t>
            </a:r>
            <a:endParaRPr lang="en-IL" b="1" dirty="0">
              <a:solidFill>
                <a:schemeClr val="accent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996AC2-C303-99FD-6AA6-637FD3893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235" y="1081943"/>
            <a:ext cx="4381763" cy="22977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DA67CB-3198-2D5A-8285-26A2B0AF1A49}"/>
              </a:ext>
            </a:extLst>
          </p:cNvPr>
          <p:cNvSpPr txBox="1"/>
          <p:nvPr/>
        </p:nvSpPr>
        <p:spPr>
          <a:xfrm rot="16200000">
            <a:off x="-7811" y="1189971"/>
            <a:ext cx="752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Leg Currents</a:t>
            </a:r>
            <a:endParaRPr lang="en-IL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EE960-077C-E504-38C9-B71B97E2DADF}"/>
              </a:ext>
            </a:extLst>
          </p:cNvPr>
          <p:cNvSpPr txBox="1"/>
          <p:nvPr/>
        </p:nvSpPr>
        <p:spPr>
          <a:xfrm rot="16200000">
            <a:off x="-162707" y="1856953"/>
            <a:ext cx="10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Phase Currents</a:t>
            </a:r>
            <a:endParaRPr lang="en-IL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F664D-259C-E054-6567-B916A0B7104D}"/>
              </a:ext>
            </a:extLst>
          </p:cNvPr>
          <p:cNvSpPr txBox="1"/>
          <p:nvPr/>
        </p:nvSpPr>
        <p:spPr>
          <a:xfrm rot="16200000">
            <a:off x="-77014" y="3063749"/>
            <a:ext cx="1077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Zero Currents</a:t>
            </a:r>
            <a:endParaRPr lang="en-IL" sz="1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7FA5C-EB17-3F96-681E-ED0ABEEF6E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238" y="5102112"/>
            <a:ext cx="2576458" cy="9875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174906-B584-F06A-7B3C-B85D593A0DE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032" y="3579176"/>
            <a:ext cx="4881206" cy="292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18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CB90C7-3811-A394-4151-E331EC288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62" y="763410"/>
            <a:ext cx="8864352" cy="56941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Validation and Simulation Results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A7CD2-843E-8415-AB99-F757C81F6FFE}"/>
              </a:ext>
            </a:extLst>
          </p:cNvPr>
          <p:cNvSpPr txBox="1"/>
          <p:nvPr/>
        </p:nvSpPr>
        <p:spPr>
          <a:xfrm>
            <a:off x="3008423" y="750698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Power Losses Comparisons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8D1FD-7131-0A13-CA3B-4817CA8BB3F8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857FF-E738-DD9B-27E0-84023F662F06}"/>
              </a:ext>
            </a:extLst>
          </p:cNvPr>
          <p:cNvSpPr txBox="1"/>
          <p:nvPr/>
        </p:nvSpPr>
        <p:spPr>
          <a:xfrm>
            <a:off x="2897561" y="1941324"/>
            <a:ext cx="282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8BCF2"/>
                </a:solidFill>
              </a:rPr>
              <a:t>Switching Losses 3D-SVM</a:t>
            </a:r>
            <a:endParaRPr lang="en-IL" b="1" dirty="0">
              <a:solidFill>
                <a:srgbClr val="28BCF2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19011B-ADA7-310C-1F06-36FD58018CB0}"/>
              </a:ext>
            </a:extLst>
          </p:cNvPr>
          <p:cNvCxnSpPr>
            <a:cxnSpLocks/>
          </p:cNvCxnSpPr>
          <p:nvPr/>
        </p:nvCxnSpPr>
        <p:spPr>
          <a:xfrm flipH="1">
            <a:off x="1806944" y="2310656"/>
            <a:ext cx="1201479" cy="560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B07E2C-82C8-3E30-AC67-20F6BE30AAE7}"/>
              </a:ext>
            </a:extLst>
          </p:cNvPr>
          <p:cNvCxnSpPr>
            <a:cxnSpLocks/>
          </p:cNvCxnSpPr>
          <p:nvPr/>
        </p:nvCxnSpPr>
        <p:spPr>
          <a:xfrm flipH="1">
            <a:off x="1696082" y="2914203"/>
            <a:ext cx="1201479" cy="560135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098B7A-957D-DBF6-8D6F-18A5DF738092}"/>
              </a:ext>
            </a:extLst>
          </p:cNvPr>
          <p:cNvSpPr txBox="1"/>
          <p:nvPr/>
        </p:nvSpPr>
        <p:spPr>
          <a:xfrm>
            <a:off x="2897561" y="2707831"/>
            <a:ext cx="306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8BCF2"/>
                </a:solidFill>
              </a:rPr>
              <a:t>Conduction Losses 3D-SVM</a:t>
            </a:r>
            <a:endParaRPr lang="en-IL" b="1" dirty="0">
              <a:solidFill>
                <a:srgbClr val="28BCF2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744531-DC0F-57F3-F3D7-B33654527A9F}"/>
              </a:ext>
            </a:extLst>
          </p:cNvPr>
          <p:cNvCxnSpPr>
            <a:cxnSpLocks/>
          </p:cNvCxnSpPr>
          <p:nvPr/>
        </p:nvCxnSpPr>
        <p:spPr>
          <a:xfrm flipH="1">
            <a:off x="2621114" y="3927163"/>
            <a:ext cx="1201479" cy="560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224D55-B0DC-C47C-5565-BAE0525689D2}"/>
              </a:ext>
            </a:extLst>
          </p:cNvPr>
          <p:cNvSpPr txBox="1"/>
          <p:nvPr/>
        </p:nvSpPr>
        <p:spPr>
          <a:xfrm>
            <a:off x="3766042" y="3607473"/>
            <a:ext cx="282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Switching Losses TDM</a:t>
            </a:r>
            <a:endParaRPr lang="en-IL" b="1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12AA7F-DCFD-0966-5A25-2ABDD70D2B0D}"/>
              </a:ext>
            </a:extLst>
          </p:cNvPr>
          <p:cNvCxnSpPr>
            <a:cxnSpLocks/>
          </p:cNvCxnSpPr>
          <p:nvPr/>
        </p:nvCxnSpPr>
        <p:spPr>
          <a:xfrm flipH="1">
            <a:off x="3165302" y="4429630"/>
            <a:ext cx="1891817" cy="361788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88E534C-A295-71FA-D577-88CB316CF579}"/>
              </a:ext>
            </a:extLst>
          </p:cNvPr>
          <p:cNvSpPr txBox="1"/>
          <p:nvPr/>
        </p:nvSpPr>
        <p:spPr>
          <a:xfrm>
            <a:off x="5032855" y="4193971"/>
            <a:ext cx="306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Conduction Losses TDM</a:t>
            </a:r>
            <a:endParaRPr lang="en-IL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C9E9EC-BC65-6E1F-69FC-04A371FA2A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294" y="2420251"/>
            <a:ext cx="2960144" cy="1776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AD941E-A5AA-99F1-F654-5F5CBCEBE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119" y="1236904"/>
            <a:ext cx="2715597" cy="1040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2E5064-9589-6D4C-3D9E-5721660A41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429" y="4252701"/>
            <a:ext cx="2937818" cy="176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17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DA8D06-9D4D-461E-A5B0-8DDB171807C3}"/>
              </a:ext>
            </a:extLst>
          </p:cNvPr>
          <p:cNvSpPr/>
          <p:nvPr/>
        </p:nvSpPr>
        <p:spPr>
          <a:xfrm>
            <a:off x="0" y="0"/>
            <a:ext cx="12192000" cy="5402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3131BBAE-DAFD-4BB8-85C5-C152A525F5B9}"/>
              </a:ext>
            </a:extLst>
          </p:cNvPr>
          <p:cNvSpPr/>
          <p:nvPr/>
        </p:nvSpPr>
        <p:spPr>
          <a:xfrm>
            <a:off x="524602" y="-38531"/>
            <a:ext cx="10795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Summary</a:t>
            </a:r>
            <a:endParaRPr lang="en-IL" sz="3200" dirty="0">
              <a:latin typeface="Georgia" panose="02040502050405020303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8D1FD-7131-0A13-CA3B-4817CA8BB3F8}"/>
              </a:ext>
            </a:extLst>
          </p:cNvPr>
          <p:cNvSpPr/>
          <p:nvPr/>
        </p:nvSpPr>
        <p:spPr>
          <a:xfrm>
            <a:off x="0" y="6513931"/>
            <a:ext cx="12192000" cy="3440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E79D7F9A-09C3-C1F2-B9A7-09EC445BD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82" y="1149333"/>
            <a:ext cx="11309436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+mn-lt"/>
                <a:cs typeface="David" panose="020E0502060401010101" pitchFamily="34" charset="-79"/>
              </a:rPr>
              <a:t>Simple Look-Up Table Control Approach with minimal computational burden</a:t>
            </a: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24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+mn-lt"/>
                <a:cs typeface="David" panose="020E0502060401010101" pitchFamily="34" charset="-79"/>
              </a:rPr>
              <a:t>Optimal DC Source Utilization Feasibility</a:t>
            </a: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24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+mn-lt"/>
                <a:cs typeface="David" panose="020E0502060401010101" pitchFamily="34" charset="-79"/>
              </a:rPr>
              <a:t>Improved Efficiency (lower switching frequency required, minimal conduction loss impact)</a:t>
            </a: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24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+mn-lt"/>
                <a:cs typeface="David" panose="020E0502060401010101" pitchFamily="34" charset="-79"/>
              </a:rPr>
              <a:t>Better Current THD at medium-high currents.</a:t>
            </a: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24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+mn-lt"/>
                <a:cs typeface="David" panose="020E0502060401010101" pitchFamily="34" charset="-79"/>
              </a:rPr>
              <a:t>Excellent Sequence Current Suppression capability.</a:t>
            </a: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endParaRPr lang="en-US" altLang="en-US" sz="2400" b="1" dirty="0">
              <a:latin typeface="+mn-lt"/>
              <a:cs typeface="David" panose="020E0502060401010101" pitchFamily="34" charset="-79"/>
            </a:endParaRPr>
          </a:p>
          <a:p>
            <a:pPr marL="342900" indent="-342900" algn="l" rtl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+mn-lt"/>
                <a:cs typeface="David" panose="020E0502060401010101" pitchFamily="34" charset="-79"/>
              </a:rPr>
              <a:t>Low Torque Ripple.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1461C-D296-BDC8-1EDE-5DBE1105744D}"/>
              </a:ext>
            </a:extLst>
          </p:cNvPr>
          <p:cNvSpPr txBox="1"/>
          <p:nvPr/>
        </p:nvSpPr>
        <p:spPr>
          <a:xfrm>
            <a:off x="524602" y="616956"/>
            <a:ext cx="451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TDM Advantages:</a:t>
            </a:r>
            <a:endParaRPr lang="en-IL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040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7D5A351B-4C18-47BF-A5CB-8C420EE1BEF0}"/>
              </a:ext>
            </a:extLst>
          </p:cNvPr>
          <p:cNvSpPr/>
          <p:nvPr/>
        </p:nvSpPr>
        <p:spPr>
          <a:xfrm>
            <a:off x="3932213" y="570216"/>
            <a:ext cx="810768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latin typeface="Georgia" panose="02040502050405020303" pitchFamily="18" charset="0"/>
              </a:rPr>
              <a:t> Questions?</a:t>
            </a:r>
          </a:p>
          <a:p>
            <a:pPr algn="ctr"/>
            <a:endParaRPr lang="en-US" sz="4000" b="1" dirty="0">
              <a:solidFill>
                <a:srgbClr val="0070C0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Georgia" panose="02040502050405020303" pitchFamily="18" charset="0"/>
                <a:hlinkClick r:id="rId3"/>
              </a:rPr>
              <a:t>eliba@sce.ac.il</a:t>
            </a:r>
            <a:endParaRPr lang="en-US" sz="3200" b="1" dirty="0">
              <a:solidFill>
                <a:srgbClr val="0070C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A8F35-DE4F-423D-8269-F7F07132CF4A}"/>
              </a:ext>
            </a:extLst>
          </p:cNvPr>
          <p:cNvSpPr/>
          <p:nvPr/>
        </p:nvSpPr>
        <p:spPr>
          <a:xfrm>
            <a:off x="0" y="-5225"/>
            <a:ext cx="12192000" cy="5689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158F7-A2A8-47E9-B505-7166B80CED07}"/>
              </a:ext>
            </a:extLst>
          </p:cNvPr>
          <p:cNvSpPr/>
          <p:nvPr/>
        </p:nvSpPr>
        <p:spPr>
          <a:xfrm>
            <a:off x="0" y="6312452"/>
            <a:ext cx="12192000" cy="5689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8FE50-46D2-48AE-8359-B9A8BF141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3735"/>
            <a:ext cx="3780542" cy="5735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E8E71A-7329-45BA-A8A4-3D4F7D050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9348" y="4731026"/>
            <a:ext cx="1474214" cy="14796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AB636C-9DF2-4E09-982C-43CE89DD3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542" y="4832758"/>
            <a:ext cx="1474214" cy="147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173240</TotalTime>
  <Words>625</Words>
  <Application>Microsoft Office PowerPoint</Application>
  <PresentationFormat>Widescreen</PresentationFormat>
  <Paragraphs>175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Georgia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TheCreative</dc:creator>
  <cp:lastModifiedBy>Eli Barbie</cp:lastModifiedBy>
  <cp:revision>2247</cp:revision>
  <cp:lastPrinted>2023-06-05T10:47:19Z</cp:lastPrinted>
  <dcterms:created xsi:type="dcterms:W3CDTF">2017-10-01T10:28:27Z</dcterms:created>
  <dcterms:modified xsi:type="dcterms:W3CDTF">2024-11-21T21:16:19Z</dcterms:modified>
</cp:coreProperties>
</file>