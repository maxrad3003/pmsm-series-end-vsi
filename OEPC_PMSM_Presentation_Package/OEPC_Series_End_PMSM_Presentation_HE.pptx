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Arial"/>
              </a:defRPr>
            </a:pPr>
            <a:r>
              <a:t>מחקר מתקדם בהנע חשמלי ואימות חומרה מעבדתי</a:t>
            </a:r>
          </a:p>
          <a:p>
            <a:pPr algn="ctr">
              <a:spcBef>
                <a:spcPts val="1000"/>
              </a:spcBef>
              <a:defRPr sz="2500" b="1">
                <a:solidFill>
                  <a:srgbClr val="F0F4FC"/>
                </a:solidFill>
                <a:latin typeface="Arial"/>
              </a:defRPr>
            </a:pPr>
            <a:r>
              <a:t>בקרה אופטימלית מבוססת תעדוף שגיאה (OEPC) עבור ממיר Series-End למנועי PMSM ודיכוי זרמי סדרה אפס</a:t>
            </a:r>
          </a:p>
          <a:p>
            <a:pPr algn="ctr">
              <a:spcBef>
                <a:spcPts val="800"/>
              </a:spcBef>
              <a:defRPr sz="1600">
                <a:solidFill>
                  <a:srgbClr val="A3B8DB"/>
                </a:solidFill>
                <a:latin typeface="Arial"/>
              </a:defRPr>
            </a:pPr>
            <a:r>
              <a:t>Hardware-Efficient Optimal Error-Priority Control for Series-End VSI With ZSC Suppression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46720" y="4297680"/>
            <a:ext cx="3017520" cy="164592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3A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>
              <a:spcAft>
                <a:spcPts val="800"/>
              </a:spcAft>
              <a:defRPr sz="1400" b="1">
                <a:solidFill>
                  <a:srgbClr val="00D2FF"/>
                </a:solidFill>
                <a:latin typeface="Arial"/>
              </a:defRPr>
            </a:pPr>
            <a:r>
              <a:t>ד"ר אלי גד ברבי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מנחה הפרויקט ומרצה בכיר ✦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המחלקה להנדסת חשמל ואלקטרוניקה ✦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המכללה האקדמית להנדסה סמי שמעון 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4297680"/>
            <a:ext cx="3017520" cy="164592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>
              <a:spcAft>
                <a:spcPts val="800"/>
              </a:spcAft>
              <a:defRPr sz="1400" b="1">
                <a:solidFill>
                  <a:srgbClr val="00D2FF"/>
                </a:solidFill>
                <a:latin typeface="Arial"/>
              </a:defRPr>
            </a:pPr>
            <a:r>
              <a:t>מקסים רדקין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מועמד לתואר שני M.Sc. ✦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המחלקה להנדסת חשמל ואלקטרוניקה ✦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המכללה האקדמית להנדסה סמי שמעון 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297680"/>
            <a:ext cx="3017520" cy="164592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3A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>
              <a:spcAft>
                <a:spcPts val="800"/>
              </a:spcAft>
              <a:defRPr sz="1400" b="1">
                <a:solidFill>
                  <a:srgbClr val="00D2FF"/>
                </a:solidFill>
                <a:latin typeface="Arial"/>
              </a:defRPr>
            </a:pPr>
            <a:r>
              <a:t>פרופ' דמיטרי ביימל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חבר בכיר ב-IEEE ✦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המחלקה להנדסת חשמל ואלקטרוניקה ✦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המכללה האקדמית להנדסה סמי שמעון 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00D2FF"/>
                </a:solidFill>
                <a:latin typeface="Arial"/>
              </a:defRPr>
            </a:pPr>
            <a:r>
              <a:t>התפתחות המתודולוגיה</a:t>
            </a:r>
          </a:p>
          <a:p>
            <a:pPr algn="r">
              <a:defRPr sz="2100" b="1">
                <a:solidFill>
                  <a:srgbClr val="F0F4FC"/>
                </a:solidFill>
                <a:latin typeface="Arial"/>
              </a:defRPr>
            </a:pPr>
            <a:r>
              <a:t>המעבר משיטת TDM לבקרת OEPC מרובת מטרות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3A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>
              <a:spcAft>
                <a:spcPts val="800"/>
              </a:spcAft>
              <a:defRPr sz="1400" b="1">
                <a:solidFill>
                  <a:srgbClr val="00D2FF"/>
                </a:solidFill>
                <a:latin typeface="Arial"/>
              </a:defRPr>
            </a:pPr>
            <a:r>
              <a:t>⏳ גישת ה-TDM הקלאסית (Time Division Multiplexing)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תיקון שגיאה בודדת בלבד בכל פסיעת בקרה. ✦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מעבר מחזורי סדרתי בין הפאזות, תוך החמצת תיקון שגיאות משניות. ✦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עקרון השימור: החלת מתח אפס/סירקולציה עצמית על פאזות שאינן בעדיפות. 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>
              <a:spcAft>
                <a:spcPts val="800"/>
              </a:spcAft>
              <a:defRPr sz="1400" b="1">
                <a:solidFill>
                  <a:srgbClr val="00D2FF"/>
                </a:solidFill>
                <a:latin typeface="Arial"/>
              </a:defRPr>
            </a:pPr>
            <a:r>
              <a:t>🚀 אסטרטגיית ה-OEPC המוצעת (Optimal Error-Priority Control)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אופטימליות מרובת מטרות: תיקון מקסימום שגיאות פאזה ו-ZSC בו-זמנית. ✦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טבלת LUT דטרמיניסטית בת 96 מצבים: ריצה בפחות מ-1.75 µs. ✦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איזון דינמי מושלם בין זרמי הפאזות (DM) לדיכוי זרם סדרה אפס (CM). 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00D2FF"/>
                </a:solidFill>
                <a:latin typeface="Arial"/>
              </a:defRPr>
            </a:pPr>
            <a:r>
              <a:t>טופולוגיית המערכת ומידול</a:t>
            </a:r>
          </a:p>
          <a:p>
            <a:pPr algn="r">
              <a:defRPr sz="2100" b="1">
                <a:solidFill>
                  <a:srgbClr val="F0F4FC"/>
                </a:solidFill>
                <a:latin typeface="Arial"/>
              </a:defRPr>
            </a:pPr>
            <a:r>
              <a:t>ארכיטקטורת Series-End VSI ואתגר זרמי סדרה אפס (ZSC)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3A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>
              <a:spcAft>
                <a:spcPts val="800"/>
              </a:spcAft>
              <a:defRPr sz="1400" b="1">
                <a:solidFill>
                  <a:srgbClr val="00D2FF"/>
                </a:solidFill>
                <a:latin typeface="Arial"/>
              </a:defRPr>
            </a:pPr>
            <a:r>
              <a:t>יתרונות ואתגרים ב-4-Leg Series-End VSI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ניצולת DC מלאה (Ma = 1.0) ב-4 ענפים בלבד (8 מתגים במקום 12). ✦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מנוע PMSM בסלילים פתוחים להעלאת צפיפות ההספק והמומנט. ✦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מימוש חומרתי ייעודי (Altium): מודולי GaN מהירים (Power_Swech - GUN_ V2) ומדי זרם מבודדים (Isolated_Current_Sensor _V2_1). ✦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אתגר ה-ZSC: היעדר נקודת כוכב צפה יוצר מסלול סגור לזרמי סדרה אפס. ✦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צימוד פאזות: מיתוג ענף 4 משפיע בו-זמנית על כל זרמי הפאזות. ✦</a:t>
            </a:r>
          </a:p>
        </p:txBody>
      </p:sp>
      <p:pic>
        <p:nvPicPr>
          <p:cNvPr id="5" name="Picture 4" descr="fig2_se_vsi_topology_and_zsc_pat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11680"/>
            <a:ext cx="5212080" cy="19527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00D2FF"/>
                </a:solidFill>
                <a:latin typeface="Arial"/>
              </a:defRPr>
            </a:pPr>
            <a:r>
              <a:t>אלגוריתם הבקרה</a:t>
            </a:r>
          </a:p>
          <a:p>
            <a:pPr algn="r">
              <a:defRPr sz="2100" b="1">
                <a:solidFill>
                  <a:srgbClr val="F0F4FC"/>
                </a:solidFill>
                <a:latin typeface="Arial"/>
              </a:defRPr>
            </a:pPr>
            <a:r>
              <a:t>עיבוד עדיפויות שגיאה וחתימת כתובת ל-LUT של 7 ביטים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3A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>
              <a:spcAft>
                <a:spcPts val="800"/>
              </a:spcAft>
              <a:defRPr sz="1400" b="1">
                <a:solidFill>
                  <a:srgbClr val="00D2FF"/>
                </a:solidFill>
                <a:latin typeface="Arial"/>
              </a:defRPr>
            </a:pPr>
            <a:r>
              <a:t>עיבוד לוגי ישיר בקואורדינטות ABC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חישוב ישיר של 6 שגיאות זרם: 3 שגיאות DM ו-3 שגיאות CM. ✦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בחירת שגיאה קריטית לכל פאזה באמצעות השוואה זוגית. ✦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דגל EMP (Fmp): קובע האם דיכוי ZSC (CM) או זרמי הפאזות (DM) בעדיפות. ✦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קוד EPC: מיון לוגי של גודל השגיאות המוחלט ב-3 ביטים. ✦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קוד ESC: ייצוג סימני השגיאה ב-3 ביטים. ✦</a:t>
            </a:r>
          </a:p>
        </p:txBody>
      </p:sp>
      <p:pic>
        <p:nvPicPr>
          <p:cNvPr id="5" name="Picture 4" descr="fig3_oepc_flowchart_algorith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212080" cy="33215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00D2FF"/>
                </a:solidFill>
                <a:latin typeface="Arial"/>
              </a:defRPr>
            </a:pPr>
            <a:r>
              <a:t>אימות וסימולציית זמן אמת</a:t>
            </a:r>
          </a:p>
          <a:p>
            <a:pPr algn="r">
              <a:defRPr sz="2100" b="1">
                <a:solidFill>
                  <a:srgbClr val="F0F4FC"/>
                </a:solidFill>
                <a:latin typeface="Arial"/>
              </a:defRPr>
            </a:pPr>
            <a:r>
              <a:t>פלטפורמת הניסוי בטייפון בזמן אמת (Typhoon C-HIL Setup)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>
              <a:spcAft>
                <a:spcPts val="800"/>
              </a:spcAft>
              <a:defRPr sz="1400" b="1">
                <a:solidFill>
                  <a:srgbClr val="00D2FF"/>
                </a:solidFill>
                <a:latin typeface="Arial"/>
              </a:defRPr>
            </a:pPr>
            <a:r>
              <a:t>ארכיטקטורת ה-C-HIL והאימות המעבדתי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אמולטור Typhoon HIL402/HIL404 המדמה את המנוע והממיר בקצב 1 MHz. ✦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בקר DSP פיזי (TMS320F28335 / F28379D) המריץ את OEPC בזמן אמת. ✦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זמן ביצוע מעגלי מזערי: לולאת זרם ב-1.75 µs ב-150 MHz. ✦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אינטגרציית המערכת: חיבור ממשקי ה-DSP והטייפון, כיול חיישנים ואימות החומרה. ✦</a:t>
            </a:r>
          </a:p>
        </p:txBody>
      </p:sp>
      <p:pic>
        <p:nvPicPr>
          <p:cNvPr id="5" name="Picture 4" descr="fig4_experimental_setups_chil_prototyp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212080" cy="46568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00D2FF"/>
                </a:solidFill>
                <a:latin typeface="Arial"/>
              </a:defRPr>
            </a:pPr>
            <a:r>
              <a:t>תוצאות ניסויי C-HIL</a:t>
            </a:r>
          </a:p>
          <a:p>
            <a:pPr algn="r">
              <a:defRPr sz="2100" b="1">
                <a:solidFill>
                  <a:srgbClr val="F0F4FC"/>
                </a:solidFill>
                <a:latin typeface="Arial"/>
              </a:defRPr>
            </a:pPr>
            <a:r>
              <a:t>תגובה דינמית של מנוע ה-PMSM בזמן אמת תחת C-HIL</a:t>
            </a:r>
          </a:p>
        </p:txBody>
      </p:sp>
      <p:pic>
        <p:nvPicPr>
          <p:cNvPr id="4" name="Picture 3" descr="fig12_chil_realtime_pmsm_resul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212080" cy="643048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3A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>
              <a:spcAft>
                <a:spcPts val="800"/>
              </a:spcAft>
              <a:defRPr sz="1400" b="1">
                <a:solidFill>
                  <a:srgbClr val="00D2FF"/>
                </a:solidFill>
                <a:latin typeface="Arial"/>
              </a:defRPr>
            </a:pPr>
            <a:r>
              <a:t>ביצועים דינמיים ודיכוי ZSC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האצה מ-0 ל-1500 RPM בזמן התייצבות מהיר ביותר (&lt; 50 ms). ✦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דחיית הפרעות מומנט חדות (5 Nm עד 45 Nm) ללא נפילת מהירות. ✦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ריפל מומנט שנשמר בטווח של +/- 0.5 Nm בלבד. ✦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דיכוי מוחלט של ZSC: ריפל i0 נבלם מתחת ל-0.42 A בכל המעברים. 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00D2FF"/>
                </a:solidFill>
                <a:latin typeface="Arial"/>
              </a:defRPr>
            </a:pPr>
            <a:r>
              <a:t>אימות חומרה מעבדתי</a:t>
            </a:r>
          </a:p>
          <a:p>
            <a:pPr algn="r">
              <a:defRPr sz="2100" b="1">
                <a:solidFill>
                  <a:srgbClr val="F0F4FC"/>
                </a:solidFill>
                <a:latin typeface="Arial"/>
              </a:defRPr>
            </a:pPr>
            <a:r>
              <a:t>תוצאות ניסוי מעבדה תחת חוסר איזון פיזי קיצוני (+/- 25%)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>
              <a:spcAft>
                <a:spcPts val="800"/>
              </a:spcAft>
              <a:defRPr sz="1400" b="1">
                <a:solidFill>
                  <a:srgbClr val="00D2FF"/>
                </a:solidFill>
                <a:latin typeface="Arial"/>
              </a:defRPr>
            </a:pPr>
            <a:r>
              <a:t>מבחן מאמץ על אב-טיפוס ממיר GaN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אב-טיפוס מעבדתי מבוסס טרנזיסטורי GaN Systems GS66516B. ✦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חוסר איזון פיזי מכוון של +/- 25% בסלילי העומס (7.5, 10, 12.5 mH). ✦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זרמים סינוסואידליים מאוזנים לחלוטין עם THD = 1.57%. ✦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ריפל ZSC שנבלם ל-0.19 A בלבד תחת א-סימטריה קשה. ✦</a:t>
            </a:r>
          </a:p>
        </p:txBody>
      </p:sp>
      <p:pic>
        <p:nvPicPr>
          <p:cNvPr id="5" name="Picture 4" descr="fig9_experimental_three_phase_currents_zs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5212080" cy="297420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00D2FF"/>
                </a:solidFill>
                <a:latin typeface="Arial"/>
              </a:defRPr>
            </a:pPr>
            <a:r>
              <a:t>אימות חומרה מעבדתי</a:t>
            </a:r>
          </a:p>
          <a:p>
            <a:pPr algn="r">
              <a:defRPr sz="2100" b="1">
                <a:solidFill>
                  <a:srgbClr val="F0F4FC"/>
                </a:solidFill>
                <a:latin typeface="Arial"/>
              </a:defRPr>
            </a:pPr>
            <a:r>
              <a:t>מדידת מתחים דיפרנציאליים ומודולציה בתדר משתנה</a:t>
            </a:r>
          </a:p>
        </p:txBody>
      </p:sp>
      <p:pic>
        <p:nvPicPr>
          <p:cNvPr id="4" name="Picture 3" descr="fig8_experimental_differential_volt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5212080" cy="295976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3A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>
              <a:spcAft>
                <a:spcPts val="800"/>
              </a:spcAft>
              <a:defRPr sz="1400" b="1">
                <a:solidFill>
                  <a:srgbClr val="00D2FF"/>
                </a:solidFill>
                <a:latin typeface="Arial"/>
              </a:defRPr>
            </a:pPr>
            <a:r>
              <a:t>חלוקת Duty Cycles ונצילות אנרגטית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דפוסי מיתוג שונים מופקים בכל ענף לפיצוי על חוסר האיזון. ✦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ניצולת מתח DC מלאה (Ma = 1.0) ללא כניסה לרוויה. ✦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תדר מיתוג משתנה: מפחית כ-30% מהפסדי המיתוג ביחס ל-PWM רגיל. ✦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פיזור הרמוניות EMI טבעי ללא פיקים חדים. 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00D2FF"/>
                </a:solidFill>
                <a:latin typeface="Arial"/>
              </a:defRPr>
            </a:pPr>
            <a:r>
              <a:t>השוואת ביצועים ו-Benchmarking</a:t>
            </a:r>
          </a:p>
          <a:p>
            <a:pPr algn="r">
              <a:defRPr sz="2100" b="1">
                <a:solidFill>
                  <a:srgbClr val="F0F4FC"/>
                </a:solidFill>
                <a:latin typeface="Arial"/>
              </a:defRPr>
            </a:pPr>
            <a:r>
              <a:t>השוואה מקיפה: בקרת OEPC מול שיטות קונבנציונליות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3A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>
              <a:spcAft>
                <a:spcPts val="800"/>
              </a:spcAft>
              <a:defRPr sz="1400" b="1">
                <a:solidFill>
                  <a:srgbClr val="00D2FF"/>
                </a:solidFill>
                <a:latin typeface="Arial"/>
              </a:defRPr>
            </a:pPr>
            <a:r>
              <a:t>עומס חישובי ויעילות מיתוג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זמן ריצת OEPC: 1.75 µs ב-150 MHz - העומס הנמוך ביותר (100%). ✦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3D-SVM: עומס כבד פי 3.3 למחזור ותדר מיתוג קבוע. ✦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CBPWM: עומס כבד פי 16; סובלת מקפיצות זרם בזמני Dead-Time. ✦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Multi-Vector MPC: עומס כבד פי 150 ורגישות גבוהה לפרמטרים. ✦</a:t>
            </a:r>
          </a:p>
        </p:txBody>
      </p:sp>
      <p:pic>
        <p:nvPicPr>
          <p:cNvPr id="5" name="Picture 4" descr="fig11_steady_state_comparison_oepc_cbpw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11680"/>
            <a:ext cx="5212080" cy="24169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00D2FF"/>
                </a:solidFill>
                <a:latin typeface="Arial"/>
              </a:defRPr>
            </a:pPr>
            <a:r>
              <a:t>חסינות לתקלות פנימיות במנוע</a:t>
            </a:r>
          </a:p>
          <a:p>
            <a:pPr algn="r">
              <a:defRPr sz="2100" b="1">
                <a:solidFill>
                  <a:srgbClr val="F0F4FC"/>
                </a:solidFill>
                <a:latin typeface="Arial"/>
              </a:defRPr>
            </a:pPr>
            <a:r>
              <a:t>חסינות אינהרנטית בפני קצר פנימי בין כריכות הסליל (ITSC)</a:t>
            </a:r>
          </a:p>
        </p:txBody>
      </p:sp>
      <p:pic>
        <p:nvPicPr>
          <p:cNvPr id="4" name="Picture 3" descr="fig13_fault_tolerance_itsc_oepc_vs_cbpw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5212080" cy="242075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>
              <a:spcAft>
                <a:spcPts val="800"/>
              </a:spcAft>
              <a:defRPr sz="1400" b="1">
                <a:solidFill>
                  <a:srgbClr val="00D2FF"/>
                </a:solidFill>
                <a:latin typeface="Arial"/>
              </a:defRPr>
            </a:pPr>
            <a:r>
              <a:t>הגנה פסיבית ובלימת זרם תקלה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קצר סטטור של 10% (ITSC) נבדק במצב מתמיד. ✦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CBPWM נכשלת לחלוטין וגורמת לבריחת זרם מסוכנת והרסנית. ✦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OEPC בולמת פסיבית את זרם התקלה ושומרת על פעולה יציבה. ✦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יכולת Limp-Home קריטית לרכב חשמלי ותעופה ללא חיישנים נוספים. 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00D2FF"/>
                </a:solidFill>
                <a:latin typeface="Arial"/>
              </a:defRPr>
            </a:pPr>
            <a:r>
              <a:t>תרומה מחקרית ופרסום מאמר</a:t>
            </a:r>
          </a:p>
          <a:p>
            <a:pPr algn="r">
              <a:defRPr sz="2100" b="1">
                <a:solidFill>
                  <a:srgbClr val="F0F4FC"/>
                </a:solidFill>
                <a:latin typeface="Arial"/>
              </a:defRPr>
            </a:pPr>
            <a:r>
              <a:t>פרסום המאמר ב-IEEE TIE והבסיס הניסויי להצלחתו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>
              <a:spcAft>
                <a:spcPts val="800"/>
              </a:spcAft>
              <a:defRPr sz="1400" b="1">
                <a:solidFill>
                  <a:srgbClr val="00D2FF"/>
                </a:solidFill>
                <a:latin typeface="Arial"/>
              </a:defRPr>
            </a:pPr>
            <a:r>
              <a:t>🌟 קבלת המאמר בכתב העת היוקרתי IEEE TIE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האימות המעבדתי וה-C-HIL היו הגורם המכריע לקבלת המאמר. ✦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ביצוע אינטגרציית החומרה, ממשקי ה-DSP והאימות הניסויי. ✦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אי-רישומו הרשמי נבע ממדיניות הקפאת שמות של IEEE לאחר סבב ראשון. ✦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הניסויים שבוצעו היוו את אבן היסוד שסללה את קבלת המאמר. 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3A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>
              <a:spcAft>
                <a:spcPts val="800"/>
              </a:spcAft>
              <a:defRPr sz="1400" b="1">
                <a:solidFill>
                  <a:srgbClr val="00D2FF"/>
                </a:solidFill>
                <a:latin typeface="Arial"/>
              </a:defRPr>
            </a:pPr>
            <a:r>
              <a:t>🛠️ תרומת החומרה והניסויים שבוצעו ע"י מקסים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חיבור וכיול בקר ה-DSP מול אמולטור הטייפון בזמן אמת. ✦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תכנון והרכבת דרגת ההספק של ממיר ה-GaN Series-End. ✦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כיול עמדת עומס RL לא-מאוזנת ב-+/- 25% ומבחני מאמץ. ✦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איסוף נתוני אוסצילוסקופ מהיר ועיבוד אותות הרמוני (FFT). 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00D2FF"/>
                </a:solidFill>
                <a:latin typeface="Arial"/>
              </a:defRPr>
            </a:pPr>
            <a:r>
              <a:t>המשך המחקר ושלבים הבאים</a:t>
            </a:r>
          </a:p>
          <a:p>
            <a:pPr algn="r">
              <a:defRPr sz="2100" b="1">
                <a:solidFill>
                  <a:srgbClr val="F0F4FC"/>
                </a:solidFill>
                <a:latin typeface="Arial"/>
              </a:defRPr>
            </a:pPr>
            <a:r>
              <a:t>התקדמות החומרה: מנוע ה-PMSM החדש והממירים שנבנו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>
              <a:spcAft>
                <a:spcPts val="800"/>
              </a:spcAft>
              <a:defRPr sz="1400" b="1">
                <a:solidFill>
                  <a:srgbClr val="00D2FF"/>
                </a:solidFill>
                <a:latin typeface="Arial"/>
              </a:defRPr>
            </a:pPr>
            <a:r>
              <a:t>עמדת הניסוי החדשה והמשך המחקר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מנוע PMSM תעשייתי חדש בסלילים פתוחים עם אנקודר אופטי SICK. ✦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ממירי SE-VSI ייעודיים שנבנו במעבדה עבור בדיקות דיינו בעומס מלא. ✦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המשך הניסויים המעשיים על גבי המנוע החדש ובדיקות בקרת שדה. ✦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אינטגרציה מלאה של מדידת נצילות, מומנט והחלשת שדה. ✦</a:t>
            </a:r>
          </a:p>
        </p:txBody>
      </p:sp>
      <p:pic>
        <p:nvPicPr>
          <p:cNvPr id="5" name="Picture 4" descr="pmsm_motor_phot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212080" cy="39090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00D2FF"/>
                </a:solidFill>
                <a:latin typeface="Arial"/>
              </a:defRPr>
            </a:pPr>
            <a:r>
              <a:t>שילוב מכני ומבני</a:t>
            </a:r>
          </a:p>
          <a:p>
            <a:pPr algn="r">
              <a:defRPr sz="2100" b="1">
                <a:solidFill>
                  <a:srgbClr val="F0F4FC"/>
                </a:solidFill>
                <a:latin typeface="Arial"/>
              </a:defRPr>
            </a:pPr>
            <a:r>
              <a:t>מכלול מכני בתלת-ממד (SolidWorks CAD) ואינטגרציית חיישנים</a:t>
            </a:r>
          </a:p>
        </p:txBody>
      </p:sp>
      <p:pic>
        <p:nvPicPr>
          <p:cNvPr id="4" name="Picture 3" descr="hardware_setup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212080" cy="316400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3A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>
              <a:spcAft>
                <a:spcPts val="800"/>
              </a:spcAft>
              <a:defRPr sz="1400" b="1">
                <a:solidFill>
                  <a:srgbClr val="00D2FF"/>
                </a:solidFill>
                <a:latin typeface="Arial"/>
              </a:defRPr>
            </a:pPr>
            <a:r>
              <a:t>תכנון מכני מדויק ואינטגרציית חיישנים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מידול 3D מלא ב-SolidWorks של עמדת המנוע (PMSM_Load_Stend.SLDASM). ✦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תושבת מד מומנט T210 למדידות דינמיות ונצילות. ✦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פענוח פרוטוקול RS485 של אנקודר SICK Hiperface לקבלת זווית רוטור. ✦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מערכת הנדסית שלמה המשלבת בקרה, תוכנה, חומרה ומכניקה. 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00D2FF"/>
                </a:solidFill>
                <a:latin typeface="Arial"/>
              </a:defRPr>
            </a:pPr>
            <a:r>
              <a:t>סיכום ומסקנות</a:t>
            </a:r>
          </a:p>
          <a:p>
            <a:pPr algn="r">
              <a:defRPr sz="2100" b="1">
                <a:solidFill>
                  <a:srgbClr val="F0F4FC"/>
                </a:solidFill>
                <a:latin typeface="Arial"/>
              </a:defRPr>
            </a:pPr>
            <a:r>
              <a:t>סיכום ההישגים המרכזיים והתרומה הטכנולוגית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>
              <a:spcAft>
                <a:spcPts val="800"/>
              </a:spcAft>
              <a:defRPr sz="1400" b="1">
                <a:solidFill>
                  <a:srgbClr val="00D2FF"/>
                </a:solidFill>
                <a:latin typeface="Arial"/>
              </a:defRPr>
            </a:pPr>
            <a:r>
              <a:t>💎 פריצות הדרך ההנדסיות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חישוב אולטרה-מהיר (&lt; 1.75 µs) על גבי DSP סטנדרטי וזול. ✦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דיכוי מלא של ZSC ללא מסננים פסיביים או שנאי בידוד. ✦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ניצולת DC מקסימלית (Ma = 1.0) ב-33% פחות מתגים. ✦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חיסכון של כ-30% בהפסדי מיתוג הודות לתדר משתנה. ✦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חסינות מוכחת לחוסר איזון של +/- 25% ולקצרים פנימיים. 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3A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>
              <a:spcAft>
                <a:spcPts val="800"/>
              </a:spcAft>
              <a:defRPr sz="1400" b="1">
                <a:solidFill>
                  <a:srgbClr val="00D2FF"/>
                </a:solidFill>
                <a:latin typeface="Arial"/>
              </a:defRPr>
            </a:pPr>
            <a:r>
              <a:t>📊 אימות מעבדתי והמשך המחקר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אימות תלת-שכבתי: סימולציה, טייפון C-HIL וחומרה פיזית מעבדתית. ✦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פרסום יוקרתי ב-IEEE TIE שהתבסס על תוצאות הניסויים של מקסים. ✦</a:t>
            </a:r>
          </a:p>
          <a:p>
            <a:pPr algn="r">
              <a:spcAft>
                <a:spcPts val="600"/>
              </a:spcAft>
              <a:defRPr sz="1200">
                <a:solidFill>
                  <a:srgbClr val="F0F4FC"/>
                </a:solidFill>
                <a:latin typeface="Arial"/>
              </a:defRPr>
            </a:pPr>
            <a:r>
              <a:t>המשך מחקר פעיל עם מנוע ה-PMSM התעשייתי החדש והממירים שנבנו. 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Arial"/>
              </a:defRPr>
            </a:pPr>
            <a:r>
              <a:t>פתוח לשאלות ודיון</a:t>
            </a:r>
          </a:p>
          <a:p>
            <a:pPr algn="ctr">
              <a:spcBef>
                <a:spcPts val="1600"/>
              </a:spcBef>
              <a:defRPr sz="3600" b="1">
                <a:solidFill>
                  <a:srgbClr val="F0F4FC"/>
                </a:solidFill>
                <a:latin typeface="Arial"/>
              </a:defRPr>
            </a:pPr>
            <a:r>
              <a:t>תודה רבה על ההקשבה!</a:t>
            </a:r>
          </a:p>
          <a:p>
            <a:pPr algn="ctr">
              <a:spcBef>
                <a:spcPts val="1200"/>
              </a:spcBef>
              <a:defRPr sz="1800">
                <a:solidFill>
                  <a:srgbClr val="A3B8DB"/>
                </a:solidFill>
                <a:latin typeface="Arial"/>
              </a:defRPr>
            </a:pPr>
            <a:r>
              <a:t>המחלקה להנדסת חשמל ואלקטרוניקה - המכללה האקדמית להנדסה סמי שמעון (SCE)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